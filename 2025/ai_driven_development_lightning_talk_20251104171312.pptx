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7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61695" y="390449"/>
            <a:ext cx="20336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B9E6">
                    <a:alpha val="1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aiDrivenDev() {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61695" y="576986"/>
            <a:ext cx="30723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B9E6">
                    <a:alpha val="1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codeQuality = optimizeWith(AI);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61695" y="763524"/>
            <a:ext cx="388162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B9E6">
                    <a:alpha val="1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productivity = enhanceTeam(capabilities);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950062"/>
            <a:ext cx="307238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B9E6">
                    <a:alpha val="1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{ codeQuality, productivity };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1695" y="1136599"/>
            <a:ext cx="1865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B9E6">
                    <a:alpha val="1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867498" y="5549494"/>
            <a:ext cx="17958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B9E6">
                    <a:alpha val="1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Gemini Code Assist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867498" y="5736031"/>
            <a:ext cx="33960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B9E6">
                    <a:alpha val="1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gemini } from '@ai/code-assist';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867498" y="5922569"/>
            <a:ext cx="348203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B9E6">
                    <a:alpha val="1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assistant = new gemini.CodeAssist();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867498" y="6109106"/>
            <a:ext cx="31583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B9E6">
                    <a:alpha val="1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assistant.improve(developmentProcess);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1305" y="952805"/>
            <a:ext cx="1904695" cy="19202"/>
          </a:xfrm>
          <a:prstGeom prst="rect">
            <a:avLst/>
          </a:prstGeom>
          <a:solidFill>
            <a:srgbClr val="55B9E6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91902" y="1714500"/>
            <a:ext cx="1429207" cy="19202"/>
          </a:xfrm>
          <a:prstGeom prst="rect">
            <a:avLst/>
          </a:prstGeom>
          <a:solidFill>
            <a:srgbClr val="55B9E6">
              <a:alpha val="3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43000" y="5695798"/>
            <a:ext cx="1714500" cy="19202"/>
          </a:xfrm>
          <a:prstGeom prst="rect">
            <a:avLst/>
          </a:prstGeom>
          <a:solidFill>
            <a:srgbClr val="55B9E6">
              <a:alpha val="3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381305" y="952805"/>
            <a:ext cx="57607" cy="57607"/>
          </a:xfrm>
          <a:prstGeom prst="ellipse">
            <a:avLst/>
          </a:prstGeom>
          <a:solidFill>
            <a:srgbClr val="55B9E6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286000" y="952805"/>
            <a:ext cx="57607" cy="57607"/>
          </a:xfrm>
          <a:prstGeom prst="ellipse">
            <a:avLst/>
          </a:prstGeom>
          <a:solidFill>
            <a:srgbClr val="55B9E6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563502" y="1714500"/>
            <a:ext cx="57607" cy="57607"/>
          </a:xfrm>
          <a:prstGeom prst="ellipse">
            <a:avLst/>
          </a:prstGeom>
          <a:solidFill>
            <a:srgbClr val="55B9E6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134295" y="1714500"/>
            <a:ext cx="57607" cy="57607"/>
          </a:xfrm>
          <a:prstGeom prst="ellipse">
            <a:avLst/>
          </a:prstGeom>
          <a:solidFill>
            <a:srgbClr val="55B9E6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5658307"/>
            <a:ext cx="57607" cy="57607"/>
          </a:xfrm>
          <a:prstGeom prst="ellipse">
            <a:avLst/>
          </a:prstGeom>
          <a:solidFill>
            <a:srgbClr val="55B9E6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857500" y="5658307"/>
            <a:ext cx="57607" cy="57607"/>
          </a:xfrm>
          <a:prstGeom prst="ellipse">
            <a:avLst/>
          </a:prstGeom>
          <a:solidFill>
            <a:srgbClr val="55B9E6">
              <a:alpha val="50000"/>
            </a:srgbClr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32374" y="2931566"/>
            <a:ext cx="342900" cy="342900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-27" r="-27" t="0" b="0"/>
          <a:stretch/>
        </p:blipFill>
        <p:spPr>
          <a:xfrm>
            <a:off x="6227978" y="2931566"/>
            <a:ext cx="428854" cy="3429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2594153" y="3417113"/>
            <a:ext cx="7645298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1A4B6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AI駆動開発ってどんな感じ?</a:t>
            </a:r>
            <a:endParaRPr lang="en-US" sz="4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7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37744"/>
            <a:ext cx="203454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自己紹介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09905" y="1401775"/>
            <a:ext cx="1714500" cy="1714500"/>
          </a:xfrm>
          <a:prstGeom prst="ellipse">
            <a:avLst/>
          </a:prstGeom>
          <a:noFill/>
          <a:ln w="50800">
            <a:solidFill>
              <a:srgbClr val="87CEEB"/>
            </a:solidFill>
            <a:prstDash val="solid"/>
          </a:ln>
          <a:effectLst>
            <a:outerShdw sx="100000" sy="100000" kx="0" ky="0" algn="bl" rotWithShape="0" blurRad="114300" dist="38100" dir="5400000">
              <a:srgbClr val="458fb7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7395" y="1440180"/>
            <a:ext cx="1638605" cy="163860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4" b="-44"/>
          <a:stretch/>
        </p:blipFill>
        <p:spPr>
          <a:xfrm>
            <a:off x="2842870" y="1432865"/>
            <a:ext cx="256946" cy="228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238805" y="1401775"/>
            <a:ext cx="20574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名前：大山 雄太郎</a:t>
            </a:r>
            <a:endParaRPr lang="en-US" sz="1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-80" r="-80" t="0" b="0"/>
          <a:stretch/>
        </p:blipFill>
        <p:spPr>
          <a:xfrm>
            <a:off x="2829154" y="1957730"/>
            <a:ext cx="286207" cy="2286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238805" y="1927555"/>
            <a:ext cx="24771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職種：Webエンジニア</a:t>
            </a:r>
            <a:endParaRPr lang="en-US" sz="18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-133" r="-133" t="0" b="0"/>
          <a:stretch/>
        </p:blipFill>
        <p:spPr>
          <a:xfrm>
            <a:off x="2885846" y="2483510"/>
            <a:ext cx="171907" cy="22860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3238805" y="2453335"/>
            <a:ext cx="8577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所属：</a:t>
            </a:r>
            <a:endParaRPr lang="en-US" sz="1800" dirty="0"/>
          </a:p>
        </p:txBody>
      </p:sp>
      <p:sp>
        <p:nvSpPr>
          <p:cNvPr id="12" name="Text 6"/>
          <p:cNvSpPr txBox="1"/>
          <p:nvPr/>
        </p:nvSpPr>
        <p:spPr>
          <a:xfrm>
            <a:off x="3238805" y="2979115"/>
            <a:ext cx="10789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94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2022年4月 ~</a:t>
            </a:r>
            <a:endParaRPr lang="en-US" sz="1300" dirty="0"/>
          </a:p>
        </p:txBody>
      </p:sp>
      <p:sp>
        <p:nvSpPr>
          <p:cNvPr id="13" name="Text 7"/>
          <p:cNvSpPr txBox="1"/>
          <p:nvPr/>
        </p:nvSpPr>
        <p:spPr>
          <a:xfrm>
            <a:off x="3238805" y="3322015"/>
            <a:ext cx="11740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94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2025年10月 ~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4476902" y="2979115"/>
            <a:ext cx="93543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独立系Sier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4476902" y="3322015"/>
            <a:ext cx="18022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ベガコーポレーション</a:t>
            </a:r>
            <a:endParaRPr lang="en-US" sz="1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85800" y="4000500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67105" y="3969410"/>
            <a:ext cx="8577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経験：</a:t>
            </a:r>
            <a:endParaRPr lang="en-US" sz="1800" dirty="0"/>
          </a:p>
        </p:txBody>
      </p:sp>
      <p:sp>
        <p:nvSpPr>
          <p:cNvPr id="18" name="Shape 11"/>
          <p:cNvSpPr/>
          <p:nvPr/>
        </p:nvSpPr>
        <p:spPr>
          <a:xfrm>
            <a:off x="609905" y="4495190"/>
            <a:ext cx="3504895" cy="1133856"/>
          </a:xfrm>
          <a:prstGeom prst="roundRect">
            <a:avLst>
              <a:gd name="adj" fmla="val 5422"/>
            </a:avLst>
          </a:prstGeom>
          <a:solidFill>
            <a:srgbClr val="B0E0E6">
              <a:alpha val="30000"/>
            </a:srgbClr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333" b="-333"/>
          <a:stretch/>
        </p:blipFill>
        <p:spPr>
          <a:xfrm>
            <a:off x="792785" y="4760366"/>
            <a:ext cx="342900" cy="276149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267505" y="4495190"/>
            <a:ext cx="3504895" cy="1133856"/>
          </a:xfrm>
          <a:prstGeom prst="roundRect">
            <a:avLst>
              <a:gd name="adj" fmla="val 5422"/>
            </a:avLst>
          </a:prstGeom>
          <a:solidFill>
            <a:srgbClr val="B0E0E6">
              <a:alpha val="30000"/>
            </a:srgbClr>
          </a:solidFill>
          <a:ln/>
        </p:spPr>
      </p:sp>
      <p:sp>
        <p:nvSpPr>
          <p:cNvPr id="21" name="Text 13"/>
          <p:cNvSpPr txBox="1"/>
          <p:nvPr/>
        </p:nvSpPr>
        <p:spPr>
          <a:xfrm>
            <a:off x="792785" y="5202022"/>
            <a:ext cx="31363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生成AIの学習・教育Webサービスの開発</a:t>
            </a:r>
            <a:endParaRPr lang="en-US" sz="13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450385" y="4760366"/>
            <a:ext cx="276149" cy="276149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7925105" y="4495190"/>
            <a:ext cx="3504895" cy="1133856"/>
          </a:xfrm>
          <a:prstGeom prst="roundRect">
            <a:avLst>
              <a:gd name="adj" fmla="val 5422"/>
            </a:avLst>
          </a:prstGeom>
          <a:solidFill>
            <a:srgbClr val="B0E0E6">
              <a:alpha val="30000"/>
            </a:srgbClr>
          </a:solidFill>
          <a:ln/>
        </p:spPr>
      </p:sp>
      <p:sp>
        <p:nvSpPr>
          <p:cNvPr id="24" name="Text 15"/>
          <p:cNvSpPr txBox="1"/>
          <p:nvPr/>
        </p:nvSpPr>
        <p:spPr>
          <a:xfrm>
            <a:off x="4450385" y="5202022"/>
            <a:ext cx="27934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AI・生成系ツールの業務活用と推進</a:t>
            </a:r>
            <a:endParaRPr lang="en-US" sz="13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107985" y="4760366"/>
            <a:ext cx="276149" cy="276149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8107985" y="5202022"/>
            <a:ext cx="246888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チームリーダー・要員調達など</a:t>
            </a:r>
            <a:endParaRPr lang="en-US" sz="1300" dirty="0"/>
          </a:p>
        </p:txBody>
      </p:sp>
      <p:sp>
        <p:nvSpPr>
          <p:cNvPr id="27" name="Text 17"/>
          <p:cNvSpPr txBox="1"/>
          <p:nvPr/>
        </p:nvSpPr>
        <p:spPr>
          <a:xfrm>
            <a:off x="609905" y="6499555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93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AI駆動開発ってどんな感じ？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7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10098" y="2329891"/>
            <a:ext cx="5715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43500" y="4166006"/>
            <a:ext cx="1904695" cy="57607"/>
          </a:xfrm>
          <a:prstGeom prst="roundRect">
            <a:avLst>
              <a:gd name="adj" fmla="val 793654"/>
            </a:avLst>
          </a:prstGeom>
          <a:solidFill>
            <a:srgbClr val="87CEEB"/>
          </a:solidFill>
          <a:ln/>
        </p:spPr>
      </p:sp>
      <p:sp>
        <p:nvSpPr>
          <p:cNvPr id="5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87CEEB">
              <a:alpha val="3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87CEEB">
              <a:alpha val="2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952805" y="1904695"/>
            <a:ext cx="1904695" cy="19202"/>
          </a:xfrm>
          <a:prstGeom prst="rect">
            <a:avLst/>
          </a:prstGeom>
          <a:solidFill>
            <a:srgbClr val="87CEEB">
              <a:alpha val="3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9620402" y="4457700"/>
            <a:ext cx="1429207" cy="19202"/>
          </a:xfrm>
          <a:prstGeom prst="rect">
            <a:avLst/>
          </a:prstGeom>
          <a:solidFill>
            <a:srgbClr val="87CEEB">
              <a:alpha val="3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2857500" y="1429207"/>
            <a:ext cx="19202" cy="952805"/>
          </a:xfrm>
          <a:prstGeom prst="rect">
            <a:avLst/>
          </a:prstGeom>
          <a:solidFill>
            <a:srgbClr val="87CEEB">
              <a:alpha val="3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0267798" y="4190695"/>
            <a:ext cx="19202" cy="761695"/>
          </a:xfrm>
          <a:prstGeom prst="rect">
            <a:avLst/>
          </a:prstGeom>
          <a:solidFill>
            <a:srgbClr val="87CEEB">
              <a:alpha val="30000"/>
            </a:srgbClr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976726" y="3119933"/>
            <a:ext cx="463875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AI駆動開発とは...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5905195" y="6509614"/>
            <a:ext cx="75895" cy="75895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13" name="Shape 10"/>
          <p:cNvSpPr/>
          <p:nvPr/>
        </p:nvSpPr>
        <p:spPr>
          <a:xfrm>
            <a:off x="6057900" y="6509614"/>
            <a:ext cx="75895" cy="75895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14" name="Shape 11"/>
          <p:cNvSpPr/>
          <p:nvPr/>
        </p:nvSpPr>
        <p:spPr>
          <a:xfrm>
            <a:off x="6210605" y="6509614"/>
            <a:ext cx="75895" cy="75895"/>
          </a:xfrm>
          <a:prstGeom prst="ellipse">
            <a:avLst/>
          </a:prstGeom>
          <a:solidFill>
            <a:srgbClr val="87CEE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7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52705"/>
            <a:ext cx="2595067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AI駆動開発とは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507" b="-507"/>
          <a:stretch/>
        </p:blipFill>
        <p:spPr>
          <a:xfrm>
            <a:off x="653796" y="975665"/>
            <a:ext cx="247802" cy="20025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21385" y="940918"/>
            <a:ext cx="70701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定義: AIを開発プロセスに組み込み、コード生成・テスト・レビュー・運用を自動化・最適化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507" b="-507"/>
          <a:stretch/>
        </p:blipFill>
        <p:spPr>
          <a:xfrm>
            <a:off x="653796" y="1345997"/>
            <a:ext cx="247802" cy="20025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21385" y="1311250"/>
            <a:ext cx="264078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従来: 人手と経験に依存 → 属人化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964" b="-964"/>
          <a:stretch/>
        </p:blipFill>
        <p:spPr>
          <a:xfrm>
            <a:off x="691286" y="1715414"/>
            <a:ext cx="171907" cy="200254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21385" y="1681582"/>
            <a:ext cx="287853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AI駆動: プロセス最適化と品質標準化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328" b="-1328"/>
          <a:stretch/>
        </p:blipFill>
        <p:spPr>
          <a:xfrm>
            <a:off x="667512" y="2124151"/>
            <a:ext cx="219456" cy="200254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021385" y="2090318"/>
            <a:ext cx="118323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主な活用領域:</a:t>
            </a:r>
            <a:endParaRPr lang="en-US" sz="1300" dirty="0"/>
          </a:p>
        </p:txBody>
      </p:sp>
      <p:sp>
        <p:nvSpPr>
          <p:cNvPr id="12" name="Shape 6"/>
          <p:cNvSpPr/>
          <p:nvPr/>
        </p:nvSpPr>
        <p:spPr>
          <a:xfrm>
            <a:off x="685800" y="2510028"/>
            <a:ext cx="2590495" cy="1524305"/>
          </a:xfrm>
          <a:prstGeom prst="roundRect">
            <a:avLst>
              <a:gd name="adj" fmla="val 2999"/>
            </a:avLst>
          </a:prstGeom>
          <a:solidFill>
            <a:srgbClr val="B0E0E6">
              <a:alpha val="30000"/>
            </a:srgbClr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333" b="-333"/>
          <a:stretch/>
        </p:blipFill>
        <p:spPr>
          <a:xfrm>
            <a:off x="1809598" y="2744114"/>
            <a:ext cx="342900" cy="276149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3429000" y="2510028"/>
            <a:ext cx="2590495" cy="1524305"/>
          </a:xfrm>
          <a:prstGeom prst="roundRect">
            <a:avLst>
              <a:gd name="adj" fmla="val 2999"/>
            </a:avLst>
          </a:prstGeom>
          <a:solidFill>
            <a:srgbClr val="B0E0E6">
              <a:alpha val="30000"/>
            </a:srgbClr>
          </a:solidFill>
          <a:ln/>
        </p:spPr>
      </p:sp>
      <p:sp>
        <p:nvSpPr>
          <p:cNvPr id="15" name="Shape 8"/>
          <p:cNvSpPr/>
          <p:nvPr/>
        </p:nvSpPr>
        <p:spPr>
          <a:xfrm>
            <a:off x="6172200" y="2510028"/>
            <a:ext cx="2590495" cy="1524305"/>
          </a:xfrm>
          <a:prstGeom prst="roundRect">
            <a:avLst>
              <a:gd name="adj" fmla="val 2999"/>
            </a:avLst>
          </a:prstGeom>
          <a:solidFill>
            <a:srgbClr val="B0E0E6">
              <a:alpha val="30000"/>
            </a:srgbClr>
          </a:solidFill>
          <a:ln/>
        </p:spPr>
      </p:sp>
      <p:sp>
        <p:nvSpPr>
          <p:cNvPr id="16" name="Text 9"/>
          <p:cNvSpPr txBox="1"/>
          <p:nvPr/>
        </p:nvSpPr>
        <p:spPr>
          <a:xfrm>
            <a:off x="1561795" y="3164738"/>
            <a:ext cx="9646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コード生成</a:t>
            </a:r>
            <a:endParaRPr lang="en-US" sz="1300" dirty="0"/>
          </a:p>
        </p:txBody>
      </p:sp>
      <p:sp>
        <p:nvSpPr>
          <p:cNvPr id="17" name="Text 10"/>
          <p:cNvSpPr txBox="1"/>
          <p:nvPr/>
        </p:nvSpPr>
        <p:spPr>
          <a:xfrm>
            <a:off x="7132320" y="3164738"/>
            <a:ext cx="8028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レビュー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843077" y="3458261"/>
            <a:ext cx="23911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99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自然言語から関数やモジュールを自動生成</a:t>
            </a:r>
            <a:endParaRPr lang="en-US" sz="12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586630" y="2744114"/>
            <a:ext cx="276149" cy="276149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4473245" y="3164738"/>
            <a:ext cx="630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テスト</a:t>
            </a:r>
            <a:endParaRPr lang="en-US" sz="1300" dirty="0"/>
          </a:p>
        </p:txBody>
      </p:sp>
      <p:sp>
        <p:nvSpPr>
          <p:cNvPr id="21" name="Text 13"/>
          <p:cNvSpPr txBox="1"/>
          <p:nvPr/>
        </p:nvSpPr>
        <p:spPr>
          <a:xfrm>
            <a:off x="3601822" y="3458261"/>
            <a:ext cx="236281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99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ユニットテストやE2Eテストの自動生成</a:t>
            </a:r>
            <a:endParaRPr lang="en-US" sz="12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329830" y="2744114"/>
            <a:ext cx="276149" cy="276149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8915400" y="2510028"/>
            <a:ext cx="2590495" cy="1524305"/>
          </a:xfrm>
          <a:prstGeom prst="roundRect">
            <a:avLst>
              <a:gd name="adj" fmla="val 2999"/>
            </a:avLst>
          </a:prstGeom>
          <a:solidFill>
            <a:srgbClr val="B0E0E6">
              <a:alpha val="30000"/>
            </a:srgbClr>
          </a:solidFill>
          <a:ln/>
        </p:spPr>
      </p:sp>
      <p:sp>
        <p:nvSpPr>
          <p:cNvPr id="24" name="Text 15"/>
          <p:cNvSpPr txBox="1"/>
          <p:nvPr/>
        </p:nvSpPr>
        <p:spPr>
          <a:xfrm>
            <a:off x="6329477" y="3458261"/>
            <a:ext cx="2400300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99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コード品質・セキュリティの自動チェック</a:t>
            </a:r>
            <a:endParaRPr lang="en-US" sz="12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333" b="-333"/>
          <a:stretch/>
        </p:blipFill>
        <p:spPr>
          <a:xfrm>
            <a:off x="10039198" y="2744114"/>
            <a:ext cx="342900" cy="276149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9791395" y="3164738"/>
            <a:ext cx="9646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運用・保守</a:t>
            </a:r>
            <a:endParaRPr lang="en-US" sz="1300" dirty="0"/>
          </a:p>
        </p:txBody>
      </p:sp>
      <p:sp>
        <p:nvSpPr>
          <p:cNvPr id="27" name="Text 17"/>
          <p:cNvSpPr txBox="1"/>
          <p:nvPr/>
        </p:nvSpPr>
        <p:spPr>
          <a:xfrm>
            <a:off x="9219895" y="3458261"/>
            <a:ext cx="2105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699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バグ検出や修正案の自動提案</a:t>
            </a:r>
            <a:endParaRPr lang="en-US" sz="1200" dirty="0"/>
          </a:p>
        </p:txBody>
      </p:sp>
      <p:sp>
        <p:nvSpPr>
          <p:cNvPr id="28" name="Text 18"/>
          <p:cNvSpPr txBox="1"/>
          <p:nvPr/>
        </p:nvSpPr>
        <p:spPr>
          <a:xfrm>
            <a:off x="609905" y="6499555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93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AI駆動開発ってどんな感じ？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7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52705"/>
            <a:ext cx="326166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チームでの導入経緯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9905" y="1188720"/>
            <a:ext cx="247802" cy="247802"/>
          </a:xfrm>
          <a:prstGeom prst="ellipse">
            <a:avLst/>
          </a:prstGeom>
          <a:solidFill>
            <a:srgbClr val="87CEE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4769" y="1243584"/>
            <a:ext cx="133502" cy="13350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9905" y="2295144"/>
            <a:ext cx="247802" cy="247802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90295" y="1188720"/>
            <a:ext cx="88422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2023年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90295" y="2295144"/>
            <a:ext cx="109362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2024年〜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90295" y="1566367"/>
            <a:ext cx="22311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Duet AI for Developers 導入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90295" y="1783994"/>
            <a:ext cx="38221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コード補完・生成機能を活用した開発支援を開始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-2512" r="-2512" t="0" b="0"/>
          <a:stretch/>
        </p:blipFill>
        <p:spPr>
          <a:xfrm>
            <a:off x="679399" y="2350008"/>
            <a:ext cx="105156" cy="1335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990295" y="2672791"/>
            <a:ext cx="21552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Gemini Code Assist へ移行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990295" y="2890418"/>
            <a:ext cx="34600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より高度なAI支援機能で開発プロセスを進化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31520" y="3401568"/>
            <a:ext cx="3419856" cy="1485900"/>
          </a:xfrm>
          <a:prstGeom prst="roundRect">
            <a:avLst>
              <a:gd name="adj" fmla="val 3156"/>
            </a:avLst>
          </a:prstGeom>
          <a:solidFill>
            <a:srgbClr val="87CEEB">
              <a:alpha val="15000"/>
            </a:srgbClr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817" b="-817"/>
          <a:stretch/>
        </p:blipFill>
        <p:spPr>
          <a:xfrm>
            <a:off x="2318918" y="3620110"/>
            <a:ext cx="237744" cy="276149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389120" y="3401568"/>
            <a:ext cx="3419856" cy="1485900"/>
          </a:xfrm>
          <a:prstGeom prst="roundRect">
            <a:avLst>
              <a:gd name="adj" fmla="val 3156"/>
            </a:avLst>
          </a:prstGeom>
          <a:solidFill>
            <a:srgbClr val="87CEEB">
              <a:alpha val="15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8046720" y="3401568"/>
            <a:ext cx="3419856" cy="1485900"/>
          </a:xfrm>
          <a:prstGeom prst="roundRect">
            <a:avLst>
              <a:gd name="adj" fmla="val 3156"/>
            </a:avLst>
          </a:prstGeom>
          <a:solidFill>
            <a:srgbClr val="87CEEB">
              <a:alpha val="15000"/>
            </a:srgbClr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1706270" y="4041648"/>
            <a:ext cx="15928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100万トークン処理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9082735" y="4041648"/>
            <a:ext cx="14694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高精度コード補完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925373" y="4334256"/>
            <a:ext cx="31437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93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GPT-4 Turboの8倍、Claude 3の4倍のコンテキスト処理能力</a:t>
            </a:r>
            <a:endParaRPr lang="en-US" sz="1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014" b="-1014"/>
          <a:stretch/>
        </p:blipFill>
        <p:spPr>
          <a:xfrm>
            <a:off x="5943600" y="3620110"/>
            <a:ext cx="304495" cy="27614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257800" y="4041648"/>
            <a:ext cx="18022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プロジェクト横断理解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4528109" y="4334256"/>
            <a:ext cx="32580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93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128,000トークンのコンテキストウィンドウでプロジェクト全体を把握</a:t>
            </a:r>
            <a:endParaRPr lang="en-US" sz="12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333" b="-333"/>
          <a:stretch/>
        </p:blipFill>
        <p:spPr>
          <a:xfrm>
            <a:off x="9581998" y="3620110"/>
            <a:ext cx="342900" cy="276149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240573" y="4334256"/>
            <a:ext cx="3143707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93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Gemini 2.0モデル搭載により、より高精度な提案を実現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09905" y="6499555"/>
            <a:ext cx="17986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93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AI駆動開発ってどんな感じ?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7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52705"/>
            <a:ext cx="394746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とある企業での導入事例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9905" y="960120"/>
            <a:ext cx="10972800" cy="2266798"/>
          </a:xfrm>
          <a:prstGeom prst="roundRect">
            <a:avLst>
              <a:gd name="adj" fmla="val 2712"/>
            </a:avLst>
          </a:prstGeom>
          <a:solidFill>
            <a:srgbClr val="B0E0E6">
              <a:alpha val="40000"/>
            </a:srgbClr>
          </a:solidFill>
          <a:ln/>
          <a:effectLst>
            <a:outerShdw sx="100000" sy="100000" kx="0" ky="0" algn="bl" rotWithShape="0" blurRad="114300" dist="38100" dir="5400000">
              <a:srgbClr val="89cfeb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67705" y="1264615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279746" y="1550822"/>
            <a:ext cx="2210105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50%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5456225" y="2617013"/>
            <a:ext cx="144658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作業時間削減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9905" y="3523183"/>
            <a:ext cx="3504895" cy="1943100"/>
          </a:xfrm>
          <a:prstGeom prst="roundRect">
            <a:avLst>
              <a:gd name="adj" fmla="val 2768"/>
            </a:avLst>
          </a:prstGeom>
          <a:solidFill>
            <a:srgbClr val="ADD8E6">
              <a:alpha val="30000"/>
            </a:srgbClr>
          </a:solidFill>
          <a:ln/>
          <a:effectLst>
            <a:outerShdw sx="100000" sy="100000" kx="0" ky="0" algn="bl" rotWithShape="0" blurRad="76200" dist="25400" dir="5400000">
              <a:srgbClr val="89cfeb">
                <a:alpha val="1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-50" r="-50" t="0" b="0"/>
          <a:stretch/>
        </p:blipFill>
        <p:spPr>
          <a:xfrm>
            <a:off x="2247595" y="3809390"/>
            <a:ext cx="228600" cy="30449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43400" y="3523183"/>
            <a:ext cx="3504895" cy="1943100"/>
          </a:xfrm>
          <a:prstGeom prst="roundRect">
            <a:avLst>
              <a:gd name="adj" fmla="val 2768"/>
            </a:avLst>
          </a:prstGeom>
          <a:solidFill>
            <a:srgbClr val="ADD8E6">
              <a:alpha val="30000"/>
            </a:srgbClr>
          </a:solidFill>
          <a:ln/>
          <a:effectLst>
            <a:outerShdw sx="100000" sy="100000" kx="0" ky="0" algn="bl" rotWithShape="0" blurRad="76200" dist="25400" dir="5400000">
              <a:srgbClr val="89cfeb">
                <a:alpha val="15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2179015" y="4251046"/>
            <a:ext cx="5093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913425" y="4251046"/>
            <a:ext cx="50932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施策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945843" y="4564685"/>
            <a:ext cx="9646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Java/SQLJ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87068" y="4783226"/>
            <a:ext cx="14785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約15,000ファイル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-90" r="-90" t="0" b="0"/>
          <a:stretch/>
        </p:blipFill>
        <p:spPr>
          <a:xfrm>
            <a:off x="5905195" y="3809390"/>
            <a:ext cx="381305" cy="30449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076895" y="3523183"/>
            <a:ext cx="3504895" cy="1943100"/>
          </a:xfrm>
          <a:prstGeom prst="roundRect">
            <a:avLst>
              <a:gd name="adj" fmla="val 2768"/>
            </a:avLst>
          </a:prstGeom>
          <a:solidFill>
            <a:srgbClr val="ADD8E6">
              <a:alpha val="30000"/>
            </a:srgbClr>
          </a:solidFill>
          <a:ln/>
          <a:effectLst>
            <a:outerShdw sx="100000" sy="100000" kx="0" ky="0" algn="bl" rotWithShape="0" blurRad="76200" dist="25400" dir="5400000">
              <a:srgbClr val="89cfeb">
                <a:alpha val="15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9372600" y="4251046"/>
            <a:ext cx="105247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今後の展開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5604358" y="4564685"/>
            <a:ext cx="11164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生成AIによる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260543" y="4783226"/>
            <a:ext cx="18022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システムアップデート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5760720" y="5000854"/>
            <a:ext cx="8028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作業支援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-50" r="-50" t="0" b="0"/>
          <a:stretch/>
        </p:blipFill>
        <p:spPr>
          <a:xfrm>
            <a:off x="9658807" y="3809390"/>
            <a:ext cx="342900" cy="3044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411005" y="4564685"/>
            <a:ext cx="9646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他言語対応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9242755" y="4783226"/>
            <a:ext cx="13075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テスト工程への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9419234" y="5000854"/>
            <a:ext cx="95463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AI活用拡大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09905" y="6499555"/>
            <a:ext cx="17986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93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AI駆動開発ってどんな感じ?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7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67705" y="2104949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43500" y="4390949"/>
            <a:ext cx="1904695" cy="57607"/>
          </a:xfrm>
          <a:prstGeom prst="roundRect">
            <a:avLst>
              <a:gd name="adj" fmla="val 793654"/>
            </a:avLst>
          </a:prstGeom>
          <a:solidFill>
            <a:srgbClr val="87CEEB"/>
          </a:solidFill>
          <a:ln/>
        </p:spPr>
      </p:sp>
      <p:sp>
        <p:nvSpPr>
          <p:cNvPr id="5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87CEEB">
              <a:alpha val="3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87CEEB">
              <a:alpha val="2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952805" y="1904695"/>
            <a:ext cx="1904695" cy="19202"/>
          </a:xfrm>
          <a:prstGeom prst="rect">
            <a:avLst/>
          </a:prstGeom>
          <a:solidFill>
            <a:srgbClr val="87CEEB">
              <a:alpha val="3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9620402" y="4457700"/>
            <a:ext cx="1429207" cy="19202"/>
          </a:xfrm>
          <a:prstGeom prst="rect">
            <a:avLst/>
          </a:prstGeom>
          <a:solidFill>
            <a:srgbClr val="87CEEB">
              <a:alpha val="3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2857500" y="1429207"/>
            <a:ext cx="19202" cy="952805"/>
          </a:xfrm>
          <a:prstGeom prst="rect">
            <a:avLst/>
          </a:prstGeom>
          <a:solidFill>
            <a:srgbClr val="87CEEB">
              <a:alpha val="3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0267798" y="4190695"/>
            <a:ext cx="19202" cy="761695"/>
          </a:xfrm>
          <a:prstGeom prst="rect">
            <a:avLst/>
          </a:prstGeom>
          <a:solidFill>
            <a:srgbClr val="87CEEB">
              <a:alpha val="30000"/>
            </a:srgbClr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429000" y="2962656"/>
            <a:ext cx="5906110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実際どうなの？</a:t>
            </a:r>
            <a:endParaRPr lang="en-US" sz="6000" dirty="0"/>
          </a:p>
        </p:txBody>
      </p:sp>
      <p:sp>
        <p:nvSpPr>
          <p:cNvPr id="12" name="Shape 9"/>
          <p:cNvSpPr/>
          <p:nvPr/>
        </p:nvSpPr>
        <p:spPr>
          <a:xfrm>
            <a:off x="5905195" y="6505956"/>
            <a:ext cx="75895" cy="75895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13" name="Shape 10"/>
          <p:cNvSpPr/>
          <p:nvPr/>
        </p:nvSpPr>
        <p:spPr>
          <a:xfrm>
            <a:off x="6057900" y="6505956"/>
            <a:ext cx="75895" cy="75895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14" name="Shape 11"/>
          <p:cNvSpPr/>
          <p:nvPr/>
        </p:nvSpPr>
        <p:spPr>
          <a:xfrm>
            <a:off x="6210605" y="6505956"/>
            <a:ext cx="75895" cy="75895"/>
          </a:xfrm>
          <a:prstGeom prst="ellipse">
            <a:avLst/>
          </a:prstGeom>
          <a:solidFill>
            <a:srgbClr val="87CEE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7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52705"/>
            <a:ext cx="32525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具体的な活用シーン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-837" r="-837" t="0" b="0"/>
          <a:stretch/>
        </p:blipFill>
        <p:spPr>
          <a:xfrm>
            <a:off x="724205" y="990295"/>
            <a:ext cx="152705" cy="20025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67105" y="940918"/>
            <a:ext cx="270205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チームでのAI駆動開発実践例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09905" y="1400861"/>
            <a:ext cx="3543300" cy="1848002"/>
          </a:xfrm>
          <a:prstGeom prst="roundRect">
            <a:avLst>
              <a:gd name="adj" fmla="val 2040"/>
            </a:avLst>
          </a:prstGeom>
          <a:solidFill>
            <a:srgbClr val="87CEEB">
              <a:alpha val="20000"/>
            </a:srgbClr>
          </a:solidFill>
          <a:ln w="12700">
            <a:solidFill>
              <a:srgbClr val="ADD8E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-90" r="-90" t="0" b="0"/>
          <a:stretch/>
        </p:blipFill>
        <p:spPr>
          <a:xfrm>
            <a:off x="2187245" y="1607515"/>
            <a:ext cx="381305" cy="30449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327855" y="1400861"/>
            <a:ext cx="3543300" cy="1848002"/>
          </a:xfrm>
          <a:prstGeom prst="roundRect">
            <a:avLst>
              <a:gd name="adj" fmla="val 2040"/>
            </a:avLst>
          </a:prstGeom>
          <a:solidFill>
            <a:srgbClr val="87CEEB">
              <a:alpha val="20000"/>
            </a:srgbClr>
          </a:solidFill>
          <a:ln w="12700">
            <a:solidFill>
              <a:srgbClr val="ADD8E6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046720" y="1400861"/>
            <a:ext cx="3543300" cy="1848002"/>
          </a:xfrm>
          <a:prstGeom prst="roundRect">
            <a:avLst>
              <a:gd name="adj" fmla="val 2040"/>
            </a:avLst>
          </a:prstGeom>
          <a:solidFill>
            <a:srgbClr val="87CEEB">
              <a:alpha val="20000"/>
            </a:srgbClr>
          </a:solidFill>
          <a:ln w="12700">
            <a:solidFill>
              <a:srgbClr val="ADD8E6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09905" y="3424428"/>
            <a:ext cx="3543300" cy="1848002"/>
          </a:xfrm>
          <a:prstGeom prst="roundRect">
            <a:avLst>
              <a:gd name="adj" fmla="val 2040"/>
            </a:avLst>
          </a:prstGeom>
          <a:solidFill>
            <a:srgbClr val="87CEEB">
              <a:alpha val="20000"/>
            </a:srgbClr>
          </a:solidFill>
          <a:ln w="12700">
            <a:solidFill>
              <a:srgbClr val="ADD8E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327855" y="3424428"/>
            <a:ext cx="3543300" cy="1848002"/>
          </a:xfrm>
          <a:prstGeom prst="roundRect">
            <a:avLst>
              <a:gd name="adj" fmla="val 2040"/>
            </a:avLst>
          </a:prstGeom>
          <a:solidFill>
            <a:srgbClr val="87CEEB">
              <a:alpha val="20000"/>
            </a:srgbClr>
          </a:solidFill>
          <a:ln w="12700">
            <a:solidFill>
              <a:srgbClr val="ADD8E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844345" y="2095805"/>
            <a:ext cx="122712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コード生成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033772" y="2095805"/>
            <a:ext cx="229423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リファクタリング支援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029200" y="4120286"/>
            <a:ext cx="229423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コードレビュー自動化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90956" y="2488082"/>
            <a:ext cx="33073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自然言語での指示から関数やモジュールを自動生成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43600" y="1607515"/>
            <a:ext cx="304495" cy="30449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39005" y="2488082"/>
            <a:ext cx="264078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既存コードの改善提案と実装支援</a:t>
            </a:r>
            <a:endParaRPr lang="en-US" sz="1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662465" y="1607515"/>
            <a:ext cx="304495" cy="30449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68105" y="2095805"/>
            <a:ext cx="165597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テスト自動生成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1844345" y="4120286"/>
            <a:ext cx="122712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エラー解決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8328355" y="2488082"/>
            <a:ext cx="309798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ユニットテストとE2Eテストを自動作成</a:t>
            </a:r>
            <a:endParaRPr lang="en-US" sz="13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224735" y="3631997"/>
            <a:ext cx="304495" cy="30449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90042" y="4512564"/>
            <a:ext cx="33073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エラーメッセージからの原因特定と修正案提示</a:t>
            </a:r>
            <a:endParaRPr lang="en-US" sz="13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943600" y="3631997"/>
            <a:ext cx="304495" cy="304495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4508906" y="4512564"/>
            <a:ext cx="33073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セキュリティや処理速度の問題を網羅的にチェック</a:t>
            </a:r>
            <a:endParaRPr lang="en-US" sz="1300" dirty="0"/>
          </a:p>
        </p:txBody>
      </p:sp>
      <p:sp>
        <p:nvSpPr>
          <p:cNvPr id="26" name="Text 18"/>
          <p:cNvSpPr txBox="1"/>
          <p:nvPr/>
        </p:nvSpPr>
        <p:spPr>
          <a:xfrm>
            <a:off x="609905" y="6499555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93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AI駆動開発ってどんな感じ？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7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52705"/>
            <a:ext cx="460491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AI駆動開発で感じたメリット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9905" y="960120"/>
            <a:ext cx="10972800" cy="1591056"/>
          </a:xfrm>
          <a:prstGeom prst="roundRect">
            <a:avLst>
              <a:gd name="adj" fmla="val 3441"/>
            </a:avLst>
          </a:prstGeom>
          <a:solidFill>
            <a:srgbClr val="B0E0E6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47065" y="1104595"/>
            <a:ext cx="304495" cy="304495"/>
          </a:xfrm>
          <a:prstGeom prst="ellipse">
            <a:avLst/>
          </a:prstGeom>
          <a:solidFill>
            <a:srgbClr val="87CE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505" r="-505" t="0" b="0"/>
          <a:stretch/>
        </p:blipFill>
        <p:spPr>
          <a:xfrm>
            <a:off x="784555" y="1166774"/>
            <a:ext cx="228600" cy="1810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04265" y="1097280"/>
            <a:ext cx="187543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182C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コード理解の促進</a:t>
            </a:r>
            <a:endParaRPr lang="en-US" sz="1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2222" b="-2222"/>
          <a:stretch/>
        </p:blipFill>
        <p:spPr>
          <a:xfrm>
            <a:off x="837590" y="1538935"/>
            <a:ext cx="123444" cy="17190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27455" y="1489558"/>
            <a:ext cx="36310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AIによる説明生成ですばやくコード全体像把握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-1507" r="-1507" t="0" b="0"/>
          <a:stretch/>
        </p:blipFill>
        <p:spPr>
          <a:xfrm>
            <a:off x="1051560" y="1893722"/>
            <a:ext cx="85954" cy="133502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09905" y="2702052"/>
            <a:ext cx="10972800" cy="1591056"/>
          </a:xfrm>
          <a:prstGeom prst="roundRect">
            <a:avLst>
              <a:gd name="adj" fmla="val 3441"/>
            </a:avLst>
          </a:prstGeom>
          <a:solidFill>
            <a:srgbClr val="B0E0E6">
              <a:alpha val="20000"/>
            </a:srgbClr>
          </a:solidFill>
          <a:ln/>
        </p:spPr>
      </p:sp>
      <p:sp>
        <p:nvSpPr>
          <p:cNvPr id="12" name="Shape 7"/>
          <p:cNvSpPr/>
          <p:nvPr/>
        </p:nvSpPr>
        <p:spPr>
          <a:xfrm>
            <a:off x="609905" y="4443984"/>
            <a:ext cx="10972800" cy="1876349"/>
          </a:xfrm>
          <a:prstGeom prst="roundRect">
            <a:avLst>
              <a:gd name="adj" fmla="val 2474"/>
            </a:avLst>
          </a:prstGeom>
          <a:solidFill>
            <a:srgbClr val="B0E0E6">
              <a:alpha val="20000"/>
            </a:srgbClr>
          </a:solidFill>
          <a:ln/>
        </p:spPr>
      </p:sp>
      <p:sp>
        <p:nvSpPr>
          <p:cNvPr id="13" name="Shape 8"/>
          <p:cNvSpPr/>
          <p:nvPr/>
        </p:nvSpPr>
        <p:spPr>
          <a:xfrm>
            <a:off x="747065" y="2846527"/>
            <a:ext cx="304495" cy="304495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14" name="Shape 9"/>
          <p:cNvSpPr/>
          <p:nvPr/>
        </p:nvSpPr>
        <p:spPr>
          <a:xfrm>
            <a:off x="747065" y="4588459"/>
            <a:ext cx="304495" cy="304495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1204265" y="4581144"/>
            <a:ext cx="398952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182C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セキュリティに対する高精度なレビュー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1127455" y="3231490"/>
            <a:ext cx="34024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AIによる"セルフレビュー"で時短&amp;労力軽減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1127455" y="4973422"/>
            <a:ext cx="4117543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AIによる脆弱性・セキュリティリスクの検知も標準化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280160" y="1829714"/>
            <a:ext cx="3610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複雑なロジックやレガシーコードの読解をAIが補助</a:t>
            </a:r>
            <a:endParaRPr lang="en-US" sz="12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-1507" r="-1507" t="0" b="0"/>
          <a:stretch/>
        </p:blipFill>
        <p:spPr>
          <a:xfrm>
            <a:off x="1051560" y="2176272"/>
            <a:ext cx="85954" cy="13350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80160" y="2111350"/>
            <a:ext cx="4391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新規参入メンバーのキャッチアップや設計意図の確認も効率化</a:t>
            </a:r>
            <a:endParaRPr lang="en-US" sz="12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8330" y="2908706"/>
            <a:ext cx="181051" cy="181051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04265" y="2839212"/>
            <a:ext cx="208483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182C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レビュー負担の削減</a:t>
            </a:r>
            <a:endParaRPr lang="en-US" sz="16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2902" y="3280867"/>
            <a:ext cx="171907" cy="171907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-1507" r="-1507" t="0" b="0"/>
          <a:stretch/>
        </p:blipFill>
        <p:spPr>
          <a:xfrm>
            <a:off x="1051560" y="3635654"/>
            <a:ext cx="85954" cy="133502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280160" y="3571646"/>
            <a:ext cx="3934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バグ・規約チェックを自動化、レビュー待ち時間を圧縮</a:t>
            </a:r>
            <a:endParaRPr lang="en-US" sz="12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rcRect l="-1507" r="-1507" t="0" b="0"/>
          <a:stretch/>
        </p:blipFill>
        <p:spPr>
          <a:xfrm>
            <a:off x="1051560" y="3918204"/>
            <a:ext cx="85954" cy="133502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1280160" y="3853282"/>
            <a:ext cx="3629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人は本質的設計・ロジックに集中（付加価値向上）</a:t>
            </a:r>
            <a:endParaRPr lang="en-US" sz="12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08330" y="4650638"/>
            <a:ext cx="181051" cy="181051"/>
          </a:xfrm>
          <a:prstGeom prst="rect">
            <a:avLst/>
          </a:prstGeom>
        </p:spPr>
      </p:pic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2724" b="-2724"/>
          <a:stretch/>
        </p:blipFill>
        <p:spPr>
          <a:xfrm>
            <a:off x="827532" y="5022799"/>
            <a:ext cx="142646" cy="171907"/>
          </a:xfrm>
          <a:prstGeom prst="rect">
            <a:avLst/>
          </a:prstGeom>
        </p:spPr>
      </p:pic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rcRect l="-1507" r="-1507" t="0" b="0"/>
          <a:stretch/>
        </p:blipFill>
        <p:spPr>
          <a:xfrm>
            <a:off x="1051560" y="5377586"/>
            <a:ext cx="85954" cy="133502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1280160" y="5313578"/>
            <a:ext cx="3620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脆弱なコードパターンや秘匿情報の混入を自動検出</a:t>
            </a:r>
            <a:endParaRPr lang="en-US" sz="1200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rcRect l="-1507" r="-1507" t="0" b="0"/>
          <a:stretch/>
        </p:blipFill>
        <p:spPr>
          <a:xfrm>
            <a:off x="1051560" y="5660136"/>
            <a:ext cx="85954" cy="133502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1280160" y="5595214"/>
            <a:ext cx="42199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権限・暗号化処理・公開範囲のミスをAI視点で網羅的に指摘</a:t>
            </a:r>
            <a:endParaRPr lang="en-US" sz="1200" dirty="0"/>
          </a:p>
        </p:txBody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rcRect l="-1507" r="-1507" t="0" b="0"/>
          <a:stretch/>
        </p:blipFill>
        <p:spPr>
          <a:xfrm>
            <a:off x="1051560" y="5941771"/>
            <a:ext cx="85954" cy="133502"/>
          </a:xfrm>
          <a:prstGeom prst="rect">
            <a:avLst/>
          </a:prstGeom>
        </p:spPr>
      </p:pic>
      <p:sp>
        <p:nvSpPr>
          <p:cNvPr id="35" name="Text 20"/>
          <p:cNvSpPr txBox="1"/>
          <p:nvPr/>
        </p:nvSpPr>
        <p:spPr>
          <a:xfrm>
            <a:off x="1280160" y="5876849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人手では見逃しがちなパターンも検出（DevSecOps文脈で導入拡大中）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7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00584"/>
            <a:ext cx="35817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AI駆動開発で感じた課題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81305" y="700430"/>
            <a:ext cx="11430000" cy="1695298"/>
          </a:xfrm>
          <a:prstGeom prst="roundRect">
            <a:avLst>
              <a:gd name="adj" fmla="val 2424"/>
            </a:avLst>
          </a:prstGeom>
          <a:solidFill>
            <a:srgbClr val="B0E0E6">
              <a:alpha val="3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-461" r="-461" t="0" b="0"/>
          <a:stretch/>
        </p:blipFill>
        <p:spPr>
          <a:xfrm>
            <a:off x="533095" y="856793"/>
            <a:ext cx="237744" cy="20939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3194" y="809244"/>
            <a:ext cx="18580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94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コンテキストの制限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33095" y="1228039"/>
            <a:ext cx="171907" cy="17190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81305" y="2467966"/>
            <a:ext cx="11430000" cy="1695298"/>
          </a:xfrm>
          <a:prstGeom prst="roundRect">
            <a:avLst>
              <a:gd name="adj" fmla="val 2424"/>
            </a:avLst>
          </a:prstGeom>
          <a:solidFill>
            <a:srgbClr val="B0E0E6">
              <a:alpha val="30000"/>
            </a:srgbClr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91540" y="2576779"/>
            <a:ext cx="30010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94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嘘（ハルシネーション）への対応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853135" y="1144829"/>
            <a:ext cx="331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長期プロジェクトでのコンテキスト管理が課題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61695" y="1561795"/>
            <a:ext cx="133502" cy="1335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21385" y="1472184"/>
            <a:ext cx="25758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会話が長くなるとトークン上限に到達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61695" y="1827886"/>
            <a:ext cx="133502" cy="13350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81305" y="4235501"/>
            <a:ext cx="11430000" cy="1695298"/>
          </a:xfrm>
          <a:prstGeom prst="roundRect">
            <a:avLst>
              <a:gd name="adj" fmla="val 2424"/>
            </a:avLst>
          </a:prstGeom>
          <a:solidFill>
            <a:srgbClr val="B0E0E6">
              <a:alpha val="30000"/>
            </a:srgbClr>
          </a:solidFill>
          <a:ln/>
        </p:spPr>
      </p:sp>
      <p:sp>
        <p:nvSpPr>
          <p:cNvPr id="15" name="Text 9"/>
          <p:cNvSpPr txBox="1"/>
          <p:nvPr/>
        </p:nvSpPr>
        <p:spPr>
          <a:xfrm>
            <a:off x="1021385" y="1739189"/>
            <a:ext cx="386151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スライディングウィンドウ方式で直近メッセージのみ保持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61695" y="2094890"/>
            <a:ext cx="133502" cy="13350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21385" y="2005279"/>
            <a:ext cx="31473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メモリツール活用で重要情報を外部保存し参照</a:t>
            </a:r>
            <a:endParaRPr lang="en-US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-1004" r="-1004" t="0" b="0"/>
          <a:stretch/>
        </p:blipFill>
        <p:spPr>
          <a:xfrm>
            <a:off x="533095" y="2624328"/>
            <a:ext cx="267005" cy="209398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33095" y="2995574"/>
            <a:ext cx="171907" cy="171907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853135" y="2912364"/>
            <a:ext cx="2086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AIが誤情報を生成するリスク</a:t>
            </a:r>
            <a:endParaRPr lang="en-US" sz="12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61695" y="3329330"/>
            <a:ext cx="133502" cy="133502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815645" y="4344314"/>
            <a:ext cx="18580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94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変化が速すぎる問題</a:t>
            </a:r>
            <a:endParaRPr lang="en-US" sz="1500" dirty="0"/>
          </a:p>
        </p:txBody>
      </p:sp>
      <p:sp>
        <p:nvSpPr>
          <p:cNvPr id="23" name="Text 13"/>
          <p:cNvSpPr txBox="1"/>
          <p:nvPr/>
        </p:nvSpPr>
        <p:spPr>
          <a:xfrm>
            <a:off x="1021385" y="3239719"/>
            <a:ext cx="34427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存在しない関数やライブラリを提案することがある</a:t>
            </a:r>
            <a:endParaRPr lang="en-US" sz="110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61695" y="3595421"/>
            <a:ext cx="133502" cy="133502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853135" y="4679899"/>
            <a:ext cx="3915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AI駆動開発領域は技術・サービスのアップデートが頻繁</a:t>
            </a:r>
            <a:endParaRPr lang="en-US" sz="1200" dirty="0"/>
          </a:p>
        </p:txBody>
      </p:sp>
      <p:sp>
        <p:nvSpPr>
          <p:cNvPr id="26" name="Text 15"/>
          <p:cNvSpPr txBox="1"/>
          <p:nvPr/>
        </p:nvSpPr>
        <p:spPr>
          <a:xfrm>
            <a:off x="1021385" y="3505810"/>
            <a:ext cx="40142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プロンプトで「不明な場合は『情報がない』と回答」を指示</a:t>
            </a:r>
            <a:endParaRPr lang="en-US" sz="11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61695" y="3862426"/>
            <a:ext cx="133502" cy="133502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1021385" y="3772814"/>
            <a:ext cx="31473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必ずファクトチェック・コードレビューを実施</a:t>
            </a:r>
            <a:endParaRPr lang="en-US" sz="1100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rcRect l="-1903" r="-1903" t="0" b="0"/>
          <a:stretch/>
        </p:blipFill>
        <p:spPr>
          <a:xfrm>
            <a:off x="533095" y="4391863"/>
            <a:ext cx="190195" cy="209398"/>
          </a:xfrm>
          <a:prstGeom prst="rect">
            <a:avLst/>
          </a:prstGeom>
        </p:spPr>
      </p:pic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533095" y="4763110"/>
            <a:ext cx="171907" cy="171907"/>
          </a:xfrm>
          <a:prstGeom prst="rect">
            <a:avLst/>
          </a:prstGeom>
        </p:spPr>
      </p:pic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761695" y="5096866"/>
            <a:ext cx="133502" cy="133502"/>
          </a:xfrm>
          <a:prstGeom prst="rect">
            <a:avLst/>
          </a:prstGeom>
        </p:spPr>
      </p:pic>
      <p:sp>
        <p:nvSpPr>
          <p:cNvPr id="32" name="Text 17"/>
          <p:cNvSpPr txBox="1"/>
          <p:nvPr/>
        </p:nvSpPr>
        <p:spPr>
          <a:xfrm>
            <a:off x="1021385" y="5007254"/>
            <a:ext cx="32333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新機能・料金・API仕様変更が毎月のように発生</a:t>
            </a:r>
            <a:endParaRPr lang="en-US" sz="1100" dirty="0"/>
          </a:p>
        </p:txBody>
      </p:sp>
      <p:pic>
        <p:nvPicPr>
          <p:cNvPr id="33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761695" y="5362956"/>
            <a:ext cx="133502" cy="133502"/>
          </a:xfrm>
          <a:prstGeom prst="rect">
            <a:avLst/>
          </a:prstGeom>
        </p:spPr>
      </p:pic>
      <p:sp>
        <p:nvSpPr>
          <p:cNvPr id="34" name="Text 18"/>
          <p:cNvSpPr txBox="1"/>
          <p:nvPr/>
        </p:nvSpPr>
        <p:spPr>
          <a:xfrm>
            <a:off x="1021385" y="5273345"/>
            <a:ext cx="2862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学習や運用体制も都度アップデートが必要</a:t>
            </a:r>
            <a:endParaRPr lang="en-US" sz="1100" dirty="0"/>
          </a:p>
        </p:txBody>
      </p:sp>
      <p:pic>
        <p:nvPicPr>
          <p:cNvPr id="35" name="Image 14" descr="preencoded.png">    </p:cNvPr>
          <p:cNvPicPr>
            <a:picLocks noChangeAspect="1"/>
          </p:cNvPicPr>
          <p:nvPr/>
        </p:nvPicPr>
        <p:blipFill>
          <a:blip r:embed="rId15"/>
          <a:srcRect l="-2512" r="-2512" t="0" b="0"/>
          <a:stretch/>
        </p:blipFill>
        <p:spPr>
          <a:xfrm>
            <a:off x="761695" y="5629961"/>
            <a:ext cx="105156" cy="133502"/>
          </a:xfrm>
          <a:prstGeom prst="rect">
            <a:avLst/>
          </a:prstGeom>
        </p:spPr>
      </p:pic>
      <p:sp>
        <p:nvSpPr>
          <p:cNvPr id="36" name="Text 19"/>
          <p:cNvSpPr txBox="1"/>
          <p:nvPr/>
        </p:nvSpPr>
        <p:spPr>
          <a:xfrm>
            <a:off x="1021385" y="5540350"/>
            <a:ext cx="199522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継続的キャッチアップが必須</a:t>
            </a:r>
            <a:endParaRPr lang="en-US" sz="1100" dirty="0"/>
          </a:p>
        </p:txBody>
      </p:sp>
      <p:sp>
        <p:nvSpPr>
          <p:cNvPr id="37" name="Text 20"/>
          <p:cNvSpPr txBox="1"/>
          <p:nvPr/>
        </p:nvSpPr>
        <p:spPr>
          <a:xfrm>
            <a:off x="381305" y="6583680"/>
            <a:ext cx="16632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93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AI駆動開発ってどんな感じ？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7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67705" y="2276856"/>
            <a:ext cx="457200" cy="457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43500" y="4219956"/>
            <a:ext cx="1904695" cy="57607"/>
          </a:xfrm>
          <a:prstGeom prst="roundRect">
            <a:avLst>
              <a:gd name="adj" fmla="val 793654"/>
            </a:avLst>
          </a:prstGeom>
          <a:solidFill>
            <a:srgbClr val="87CEEB"/>
          </a:solidFill>
          <a:ln/>
        </p:spPr>
      </p:sp>
      <p:sp>
        <p:nvSpPr>
          <p:cNvPr id="5" name="Shape 2"/>
          <p:cNvSpPr/>
          <p:nvPr/>
        </p:nvSpPr>
        <p:spPr>
          <a:xfrm>
            <a:off x="9334195" y="-952805"/>
            <a:ext cx="3810305" cy="3810305"/>
          </a:xfrm>
          <a:prstGeom prst="ellipse">
            <a:avLst/>
          </a:prstGeom>
          <a:solidFill>
            <a:srgbClr val="87CEEB">
              <a:alpha val="3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-476402" y="4476902"/>
            <a:ext cx="2857500" cy="2857500"/>
          </a:xfrm>
          <a:prstGeom prst="ellipse">
            <a:avLst/>
          </a:prstGeom>
          <a:solidFill>
            <a:srgbClr val="87CEEB">
              <a:alpha val="2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952805" y="1904695"/>
            <a:ext cx="1904695" cy="19202"/>
          </a:xfrm>
          <a:prstGeom prst="rect">
            <a:avLst/>
          </a:prstGeom>
          <a:solidFill>
            <a:srgbClr val="87CEEB">
              <a:alpha val="3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9620402" y="4457700"/>
            <a:ext cx="1429207" cy="19202"/>
          </a:xfrm>
          <a:prstGeom prst="rect">
            <a:avLst/>
          </a:prstGeom>
          <a:solidFill>
            <a:srgbClr val="87CEEB">
              <a:alpha val="3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2857500" y="1429207"/>
            <a:ext cx="19202" cy="952805"/>
          </a:xfrm>
          <a:prstGeom prst="rect">
            <a:avLst/>
          </a:prstGeom>
          <a:solidFill>
            <a:srgbClr val="87CEEB">
              <a:alpha val="3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0267798" y="4190695"/>
            <a:ext cx="19202" cy="761695"/>
          </a:xfrm>
          <a:prstGeom prst="rect">
            <a:avLst/>
          </a:prstGeom>
          <a:solidFill>
            <a:srgbClr val="87CEEB">
              <a:alpha val="30000"/>
            </a:srgbClr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296205" y="3124505"/>
            <a:ext cx="2000707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5905195" y="6505956"/>
            <a:ext cx="75895" cy="75895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13" name="Shape 10"/>
          <p:cNvSpPr/>
          <p:nvPr/>
        </p:nvSpPr>
        <p:spPr>
          <a:xfrm>
            <a:off x="6057900" y="6505956"/>
            <a:ext cx="75895" cy="75895"/>
          </a:xfrm>
          <a:prstGeom prst="ellipse">
            <a:avLst/>
          </a:prstGeom>
          <a:solidFill>
            <a:srgbClr val="87CEEB"/>
          </a:solidFill>
          <a:ln/>
        </p:spPr>
      </p:sp>
      <p:sp>
        <p:nvSpPr>
          <p:cNvPr id="14" name="Shape 11"/>
          <p:cNvSpPr/>
          <p:nvPr/>
        </p:nvSpPr>
        <p:spPr>
          <a:xfrm>
            <a:off x="6210605" y="6505956"/>
            <a:ext cx="75895" cy="75895"/>
          </a:xfrm>
          <a:prstGeom prst="ellipse">
            <a:avLst/>
          </a:prstGeom>
          <a:solidFill>
            <a:srgbClr val="87CEE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7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121615"/>
            <a:ext cx="5214823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 - AI駆動開発で見えた未来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9788" y="1008583"/>
            <a:ext cx="200254" cy="20025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96112" y="971093"/>
            <a:ext cx="306141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182C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AI駆動開発がもたらした具体的成果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65683" y="1336853"/>
            <a:ext cx="3504895" cy="533095"/>
          </a:xfrm>
          <a:prstGeom prst="roundRect">
            <a:avLst>
              <a:gd name="adj" fmla="val 24504"/>
            </a:avLst>
          </a:prstGeom>
          <a:solidFill>
            <a:srgbClr val="87CEEB">
              <a:alpha val="1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65683" y="1841602"/>
            <a:ext cx="3504895" cy="28346"/>
          </a:xfrm>
          <a:prstGeom prst="rect">
            <a:avLst/>
          </a:prstGeom>
          <a:solidFill>
            <a:srgbClr val="87CEEB"/>
          </a:solidFill>
          <a:ln/>
        </p:spPr>
      </p:sp>
      <p:sp>
        <p:nvSpPr>
          <p:cNvPr id="8" name="Shape 5"/>
          <p:cNvSpPr/>
          <p:nvPr/>
        </p:nvSpPr>
        <p:spPr>
          <a:xfrm>
            <a:off x="4323283" y="1336853"/>
            <a:ext cx="3504895" cy="533095"/>
          </a:xfrm>
          <a:prstGeom prst="roundRect">
            <a:avLst>
              <a:gd name="adj" fmla="val 24504"/>
            </a:avLst>
          </a:prstGeom>
          <a:solidFill>
            <a:srgbClr val="87CEEB">
              <a:alpha val="1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323283" y="1841602"/>
            <a:ext cx="3504895" cy="28346"/>
          </a:xfrm>
          <a:prstGeom prst="rect">
            <a:avLst/>
          </a:prstGeom>
          <a:solidFill>
            <a:srgbClr val="87CEEB"/>
          </a:solidFill>
          <a:ln/>
        </p:spPr>
      </p:sp>
      <p:sp>
        <p:nvSpPr>
          <p:cNvPr id="10" name="Shape 7"/>
          <p:cNvSpPr/>
          <p:nvPr/>
        </p:nvSpPr>
        <p:spPr>
          <a:xfrm>
            <a:off x="7980883" y="1336853"/>
            <a:ext cx="3504895" cy="533095"/>
          </a:xfrm>
          <a:prstGeom prst="roundRect">
            <a:avLst>
              <a:gd name="adj" fmla="val 24504"/>
            </a:avLst>
          </a:prstGeom>
          <a:solidFill>
            <a:srgbClr val="87CEEB">
              <a:alpha val="1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7980883" y="1841602"/>
            <a:ext cx="3504895" cy="28346"/>
          </a:xfrm>
          <a:prstGeom prst="rect">
            <a:avLst/>
          </a:prstGeom>
          <a:solidFill>
            <a:srgbClr val="87CEE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378001" y="1428293"/>
            <a:ext cx="224393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コーディング効率向上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9104681" y="1428293"/>
            <a:ext cx="142463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教育工数削減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237683" y="1428293"/>
            <a:ext cx="184343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レビュー時間削減</a:t>
            </a:r>
            <a:endParaRPr lang="en-US" sz="16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9788" y="2113178"/>
            <a:ext cx="200254" cy="20025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96112" y="2075688"/>
            <a:ext cx="259506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182C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EPOCHスキルが差別化の鍵に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89788" y="2441448"/>
            <a:ext cx="5410505" cy="1114654"/>
          </a:xfrm>
          <a:prstGeom prst="roundRect">
            <a:avLst>
              <a:gd name="adj" fmla="val 4487"/>
            </a:avLst>
          </a:prstGeom>
          <a:solidFill>
            <a:srgbClr val="55B9E6">
              <a:alpha val="10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58038" y="2563063"/>
            <a:ext cx="181051" cy="18105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138428" y="2513686"/>
            <a:ext cx="34024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Empathy — AIには真似できない「共感力」</a:t>
            </a:r>
            <a:endParaRPr lang="en-US" sz="13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58038" y="2873045"/>
            <a:ext cx="181051" cy="18105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38428" y="2823667"/>
            <a:ext cx="309798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Presence — 実際の現場での「存在感」</a:t>
            </a:r>
            <a:endParaRPr lang="en-US" sz="13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58038" y="3182112"/>
            <a:ext cx="181051" cy="181051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138428" y="3132734"/>
            <a:ext cx="31738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Opinion — 責任ある「判断力と倫理観」</a:t>
            </a:r>
            <a:endParaRPr lang="en-US" sz="13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152083" y="2113178"/>
            <a:ext cx="200254" cy="20025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6459322" y="2075688"/>
            <a:ext cx="159471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182C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AI時代の価値創造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6152083" y="2441448"/>
            <a:ext cx="5410505" cy="1114654"/>
          </a:xfrm>
          <a:prstGeom prst="roundRect">
            <a:avLst>
              <a:gd name="adj" fmla="val 4487"/>
            </a:avLst>
          </a:prstGeom>
          <a:solidFill>
            <a:srgbClr val="55B9E6">
              <a:alpha val="10000"/>
            </a:srgbClr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6321247" y="2563063"/>
            <a:ext cx="181051" cy="181051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700723" y="2513686"/>
            <a:ext cx="27742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Creativity — AIを超える「創造性」</a:t>
            </a:r>
            <a:endParaRPr lang="en-US" sz="13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321247" y="2873045"/>
            <a:ext cx="181051" cy="181051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6700723" y="2823667"/>
            <a:ext cx="346923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Hope — 未来を切り拓く「リーダーシップ」</a:t>
            </a:r>
            <a:endParaRPr lang="en-US" sz="13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rcRect l="-1082" r="-1082" t="0" b="0"/>
          <a:stretch/>
        </p:blipFill>
        <p:spPr>
          <a:xfrm>
            <a:off x="6330391" y="3182112"/>
            <a:ext cx="161849" cy="181051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6700723" y="3132734"/>
            <a:ext cx="34600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AIと協働することで人間本来の価値が高まる</a:t>
            </a:r>
            <a:endParaRPr lang="en-US" sz="13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589788" y="3847795"/>
            <a:ext cx="200254" cy="200254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896112" y="3811219"/>
            <a:ext cx="226131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182C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今日から始める3ステップ</a:t>
            </a:r>
            <a:endParaRPr lang="en-US" sz="1400" dirty="0"/>
          </a:p>
        </p:txBody>
      </p:sp>
      <p:sp>
        <p:nvSpPr>
          <p:cNvPr id="35" name="Shape 23"/>
          <p:cNvSpPr/>
          <p:nvPr/>
        </p:nvSpPr>
        <p:spPr>
          <a:xfrm>
            <a:off x="589788" y="4238244"/>
            <a:ext cx="10972800" cy="400507"/>
          </a:xfrm>
          <a:prstGeom prst="roundRect">
            <a:avLst>
              <a:gd name="adj" fmla="val 34790"/>
            </a:avLst>
          </a:prstGeom>
          <a:solidFill>
            <a:srgbClr val="87CEEB">
              <a:alpha val="12000"/>
            </a:srgbClr>
          </a:solidFill>
          <a:ln/>
        </p:spPr>
      </p:sp>
      <p:sp>
        <p:nvSpPr>
          <p:cNvPr id="36" name="Shape 24"/>
          <p:cNvSpPr/>
          <p:nvPr/>
        </p:nvSpPr>
        <p:spPr>
          <a:xfrm>
            <a:off x="589788" y="4710074"/>
            <a:ext cx="10972800" cy="400507"/>
          </a:xfrm>
          <a:prstGeom prst="roundRect">
            <a:avLst>
              <a:gd name="adj" fmla="val 34790"/>
            </a:avLst>
          </a:prstGeom>
          <a:solidFill>
            <a:srgbClr val="87CEEB">
              <a:alpha val="12000"/>
            </a:srgbClr>
          </a:solidFill>
          <a:ln/>
        </p:spPr>
      </p:sp>
      <p:sp>
        <p:nvSpPr>
          <p:cNvPr id="37" name="Shape 25"/>
          <p:cNvSpPr/>
          <p:nvPr/>
        </p:nvSpPr>
        <p:spPr>
          <a:xfrm>
            <a:off x="589788" y="5182819"/>
            <a:ext cx="10972800" cy="400507"/>
          </a:xfrm>
          <a:prstGeom prst="roundRect">
            <a:avLst>
              <a:gd name="adj" fmla="val 34790"/>
            </a:avLst>
          </a:prstGeom>
          <a:solidFill>
            <a:srgbClr val="87CEEB">
              <a:alpha val="12000"/>
            </a:srgbClr>
          </a:solidFill>
          <a:ln/>
        </p:spPr>
      </p:sp>
      <p:sp>
        <p:nvSpPr>
          <p:cNvPr id="38" name="Shape 26"/>
          <p:cNvSpPr/>
          <p:nvPr/>
        </p:nvSpPr>
        <p:spPr>
          <a:xfrm>
            <a:off x="726948" y="4314139"/>
            <a:ext cx="247802" cy="247802"/>
          </a:xfrm>
          <a:prstGeom prst="ellipse">
            <a:avLst/>
          </a:prstGeom>
          <a:solidFill>
            <a:srgbClr val="55B9E6"/>
          </a:solidFill>
          <a:ln/>
        </p:spPr>
      </p:sp>
      <p:sp>
        <p:nvSpPr>
          <p:cNvPr id="39" name="Shape 27"/>
          <p:cNvSpPr/>
          <p:nvPr/>
        </p:nvSpPr>
        <p:spPr>
          <a:xfrm>
            <a:off x="726948" y="4786884"/>
            <a:ext cx="247802" cy="247802"/>
          </a:xfrm>
          <a:prstGeom prst="ellipse">
            <a:avLst/>
          </a:prstGeom>
          <a:solidFill>
            <a:srgbClr val="55B9E6"/>
          </a:solidFill>
          <a:ln/>
        </p:spPr>
      </p:sp>
      <p:sp>
        <p:nvSpPr>
          <p:cNvPr id="40" name="Shape 28"/>
          <p:cNvSpPr/>
          <p:nvPr/>
        </p:nvSpPr>
        <p:spPr>
          <a:xfrm>
            <a:off x="726948" y="5258714"/>
            <a:ext cx="247802" cy="247802"/>
          </a:xfrm>
          <a:prstGeom prst="ellipse">
            <a:avLst/>
          </a:prstGeom>
          <a:solidFill>
            <a:srgbClr val="55B9E6"/>
          </a:solidFill>
          <a:ln/>
        </p:spPr>
      </p:sp>
      <p:sp>
        <p:nvSpPr>
          <p:cNvPr id="41" name="Text 29"/>
          <p:cNvSpPr txBox="1"/>
          <p:nvPr/>
        </p:nvSpPr>
        <p:spPr>
          <a:xfrm>
            <a:off x="803758" y="4321454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200" dirty="0"/>
          </a:p>
        </p:txBody>
      </p:sp>
      <p:sp>
        <p:nvSpPr>
          <p:cNvPr id="42" name="Text 30"/>
          <p:cNvSpPr txBox="1"/>
          <p:nvPr/>
        </p:nvSpPr>
        <p:spPr>
          <a:xfrm>
            <a:off x="803758" y="4794199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200" dirty="0"/>
          </a:p>
        </p:txBody>
      </p:sp>
      <p:sp>
        <p:nvSpPr>
          <p:cNvPr id="43" name="Text 31"/>
          <p:cNvSpPr txBox="1"/>
          <p:nvPr/>
        </p:nvSpPr>
        <p:spPr>
          <a:xfrm>
            <a:off x="803758" y="5266030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Text 32"/>
          <p:cNvSpPr txBox="1"/>
          <p:nvPr/>
        </p:nvSpPr>
        <p:spPr>
          <a:xfrm>
            <a:off x="1108253" y="4315968"/>
            <a:ext cx="52166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プロンプトエンジニアリングの基礎を学び、AI活用の指示設計力を磨く</a:t>
            </a:r>
            <a:endParaRPr lang="en-US" sz="1200" dirty="0"/>
          </a:p>
        </p:txBody>
      </p:sp>
      <p:sp>
        <p:nvSpPr>
          <p:cNvPr id="45" name="Text 33"/>
          <p:cNvSpPr txBox="1"/>
          <p:nvPr/>
        </p:nvSpPr>
        <p:spPr>
          <a:xfrm>
            <a:off x="1108253" y="4787798"/>
            <a:ext cx="50548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定型作業からAIへのタスク移行計画を立て、創造的業務に時間を確保</a:t>
            </a:r>
            <a:endParaRPr lang="en-US" sz="1200" dirty="0"/>
          </a:p>
        </p:txBody>
      </p:sp>
      <p:sp>
        <p:nvSpPr>
          <p:cNvPr id="46" name="Text 34"/>
          <p:cNvSpPr txBox="1"/>
          <p:nvPr/>
        </p:nvSpPr>
        <p:spPr>
          <a:xfrm>
            <a:off x="1108253" y="5260543"/>
            <a:ext cx="45875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AI活用の知見共有会を定期開催し、全体のスキル底上げを図る</a:t>
            </a:r>
            <a:endParaRPr lang="en-US" sz="1200" dirty="0"/>
          </a:p>
        </p:txBody>
      </p:sp>
      <p:sp>
        <p:nvSpPr>
          <p:cNvPr id="47" name="Text 35"/>
          <p:cNvSpPr txBox="1"/>
          <p:nvPr/>
        </p:nvSpPr>
        <p:spPr>
          <a:xfrm>
            <a:off x="609905" y="6499555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93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AI駆動開発ってどんな感じ？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F7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28600"/>
            <a:ext cx="423367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 - 5つのEPOCH能力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9905" y="1158545"/>
            <a:ext cx="10972800" cy="809244"/>
          </a:xfrm>
          <a:prstGeom prst="roundRect">
            <a:avLst>
              <a:gd name="adj" fmla="val 13293"/>
            </a:avLst>
          </a:prstGeom>
          <a:solidFill>
            <a:srgbClr val="B0E0E6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9905" y="2087575"/>
            <a:ext cx="10972800" cy="809244"/>
          </a:xfrm>
          <a:prstGeom prst="roundRect">
            <a:avLst>
              <a:gd name="adj" fmla="val 13293"/>
            </a:avLst>
          </a:prstGeom>
          <a:solidFill>
            <a:srgbClr val="B0E0E6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09905" y="3016606"/>
            <a:ext cx="10972800" cy="809244"/>
          </a:xfrm>
          <a:prstGeom prst="roundRect">
            <a:avLst>
              <a:gd name="adj" fmla="val 13293"/>
            </a:avLst>
          </a:prstGeom>
          <a:solidFill>
            <a:srgbClr val="B0E0E6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09905" y="3946550"/>
            <a:ext cx="10972800" cy="809244"/>
          </a:xfrm>
          <a:prstGeom prst="roundRect">
            <a:avLst>
              <a:gd name="adj" fmla="val 13293"/>
            </a:avLst>
          </a:prstGeom>
          <a:solidFill>
            <a:srgbClr val="B0E0E6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09905" y="4875581"/>
            <a:ext cx="10972800" cy="809244"/>
          </a:xfrm>
          <a:prstGeom prst="roundRect">
            <a:avLst>
              <a:gd name="adj" fmla="val 13293"/>
            </a:avLst>
          </a:prstGeom>
          <a:solidFill>
            <a:srgbClr val="B0E0E6">
              <a:alpha val="20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1949" y="1280160"/>
            <a:ext cx="46177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5B9E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952805" y="2209190"/>
            <a:ext cx="48006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5B9E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935431" y="3139135"/>
            <a:ext cx="51846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5B9E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954634" y="4068166"/>
            <a:ext cx="48006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5B9E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938174" y="4998110"/>
            <a:ext cx="509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5B9E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398118" y="1280160"/>
            <a:ext cx="5818327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94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Empathy and Emotional Intelligence（共感と感情知性）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98118" y="2209190"/>
            <a:ext cx="81802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94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Presence, Networking, and Connectedness（存在感・ネットワーク・つながり）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98118" y="3139135"/>
            <a:ext cx="569488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94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Opinion, Judgment, and Ethics（意見・判断・倫理観）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98118" y="4068166"/>
            <a:ext cx="483717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94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Creativity and Imagination（創造性と想像力）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98118" y="4998110"/>
            <a:ext cx="678027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94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Hope, Vision, and Leadership（希望・ビジョン・リーダーシップ）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98118" y="1626718"/>
            <a:ext cx="3324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感情を理解し、相手の状況に心から寄り添う力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398118" y="2555748"/>
            <a:ext cx="3771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チームや現場での実際のつながり・信頼関係を築く力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398118" y="3485693"/>
            <a:ext cx="4077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責任を持って状況判断し、意思表示や倫理的判断をする力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98118" y="4414723"/>
            <a:ext cx="3172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現実を超えた発想や新しい価値を生み出す力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398118" y="5344668"/>
            <a:ext cx="3781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困難や不確実性に向き合い、未来への道を切り拓く力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09905" y="6499555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93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AI駆動開発ってどんな感じ？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2025-11-04T17:13:12Z</dcterms:created>
  <dcterms:modified xsi:type="dcterms:W3CDTF">2025-11-04T17:13:12Z</dcterms:modified>
</cp:coreProperties>
</file>
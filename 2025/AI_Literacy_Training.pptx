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43554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457200"/>
            <a:ext cx="2011680" cy="2011680"/>
          </a:xfrm>
          <a:prstGeom prst="ellipse">
            <a:avLst/>
          </a:prstGeom>
          <a:solidFill>
            <a:srgbClr val="1E34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943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868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社内講習会 企画提案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298448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 リテラシー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活用講習会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11480" y="3273552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4564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AIを正しく理解し、業務に活かすための実践的教育プログラム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4480560"/>
            <a:ext cx="8321040" cy="16459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457200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20XX年XX月　人事・DX推進部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本日のアジェンダ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804672"/>
            <a:ext cx="832104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804672"/>
            <a:ext cx="475488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0467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8595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講習会の背景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11556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リテラシー不足・期待値の歪み・アンチパターン理解不足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499616"/>
            <a:ext cx="8321040" cy="5852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499616"/>
            <a:ext cx="475488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49961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1554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講習会の目的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181051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知る・守る・判断する・活かす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194560"/>
            <a:ext cx="832104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194560"/>
            <a:ext cx="475488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194560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2494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生成AIリテラシー教育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250545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①基礎知識　②セキュリティ・倫理　③アンチパターン演習　＋LTイベント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889504"/>
            <a:ext cx="8321040" cy="5852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889504"/>
            <a:ext cx="475488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88950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生成AIで実現できること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32004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業務活用の具体的ユースケース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584448"/>
            <a:ext cx="832104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584448"/>
            <a:ext cx="475488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58444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講習会プログラム概要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389534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構成・スケジュール・対象者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279392"/>
            <a:ext cx="8321040" cy="5852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279392"/>
            <a:ext cx="475488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27939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7552" y="43342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期待される効果・まとめ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7552" y="459028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効果測定 / フィードバック / 次のステップ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なぜ今、この講習会が必要なのか — 背景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804672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1069848"/>
            <a:ext cx="694944" cy="69494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597" y="1208837"/>
            <a:ext cx="416966" cy="416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リテラシー不足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80160" y="2286000"/>
            <a:ext cx="10058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423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機密情報・個人情報をAIに入力してしまうリスク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無許可ツールの業務利用（シャドーAI）が横行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392277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社員間でのルール・知識の格差が拡大中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55848" y="804672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55848" y="804672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4"/>
          <p:cNvSpPr/>
          <p:nvPr/>
        </p:nvSpPr>
        <p:spPr>
          <a:xfrm>
            <a:off x="4379976" y="1069848"/>
            <a:ext cx="694944" cy="69494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965" y="1208837"/>
            <a:ext cx="416966" cy="41696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2044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期待値の歪み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224528" y="2286000"/>
            <a:ext cx="10058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7"/>
          <p:cNvSpPr/>
          <p:nvPr/>
        </p:nvSpPr>
        <p:spPr>
          <a:xfrm>
            <a:off x="3538728" y="2423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「AIは常に正確」という誤解 — 100%の精度を前提に運用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538728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「なんでもAIで解決しよう」という過度な依存傾向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538728" y="392277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ハルシネーション（誤情報生成）のリスクを軽視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300216" y="804672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00216" y="804672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Shape 22"/>
          <p:cNvSpPr/>
          <p:nvPr/>
        </p:nvSpPr>
        <p:spPr>
          <a:xfrm>
            <a:off x="7324344" y="1069848"/>
            <a:ext cx="694944" cy="69494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333" y="1208837"/>
            <a:ext cx="416966" cy="41696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648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アンチパターンの理解不足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168896" y="2286000"/>
            <a:ext cx="10058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5"/>
          <p:cNvSpPr/>
          <p:nvPr/>
        </p:nvSpPr>
        <p:spPr>
          <a:xfrm>
            <a:off x="6483096" y="2423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AIを使うべきでない場面の判断基準が不明確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483096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AI出力をそのまま使用し、人間レビューを省略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483096" y="392277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責任の所在があいまいなまま業務利用が進む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この講習会で目指すこと — 目的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生成AIを「正しく・安全に・賢く」使える組織をつくる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3977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188720"/>
            <a:ext cx="39776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298448"/>
            <a:ext cx="566928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2984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" y="1243584"/>
            <a:ext cx="402336" cy="40233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" y="1324051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61288" y="12801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正しい知識の習得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" y="1664208"/>
            <a:ext cx="3639312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" y="173736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生成AIの仕組み・できること・限界を体系的に理解する。ハルシネーションや確率的出力の特性を知り、過信・過小評価の両方を防ぐ。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188720"/>
            <a:ext cx="3977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188720"/>
            <a:ext cx="397764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Shape 15"/>
          <p:cNvSpPr/>
          <p:nvPr/>
        </p:nvSpPr>
        <p:spPr>
          <a:xfrm>
            <a:off x="7909560" y="1298448"/>
            <a:ext cx="566928" cy="21945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12984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守る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64608" y="1243584"/>
            <a:ext cx="402336" cy="40233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75" y="1324051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13248" y="12801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リスク管理能力の向上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828032" y="1664208"/>
            <a:ext cx="3639312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0"/>
          <p:cNvSpPr/>
          <p:nvPr/>
        </p:nvSpPr>
        <p:spPr>
          <a:xfrm>
            <a:off x="4828032" y="173736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情報セキュリティ・著作権・倫理的配慮を身につける。社内ルールを正しく理解し、シャドーAIや情報漏洩リスクをゼロにする。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11480" y="3017520"/>
            <a:ext cx="3977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11480" y="3017520"/>
            <a:ext cx="39776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3"/>
          <p:cNvSpPr/>
          <p:nvPr/>
        </p:nvSpPr>
        <p:spPr>
          <a:xfrm>
            <a:off x="3657600" y="3127248"/>
            <a:ext cx="56692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3657600" y="31272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判断する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12648" y="3072384"/>
            <a:ext cx="402336" cy="40233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3152851"/>
            <a:ext cx="241402" cy="24140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61288" y="3108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人間レビューの重要性を理解する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76072" y="3493008"/>
            <a:ext cx="3639312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28"/>
          <p:cNvSpPr/>
          <p:nvPr/>
        </p:nvSpPr>
        <p:spPr>
          <a:xfrm>
            <a:off x="576072" y="356616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AI出力を鵜呑みにせず、人間が最終判断を担う文化を醸成する。AIはあくまで「補助ツール」であり、責任は常に人間にあることを共有する。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63440" y="3017520"/>
            <a:ext cx="3977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663440" y="3017520"/>
            <a:ext cx="39776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31"/>
          <p:cNvSpPr/>
          <p:nvPr/>
        </p:nvSpPr>
        <p:spPr>
          <a:xfrm>
            <a:off x="7909560" y="3127248"/>
            <a:ext cx="566928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2"/>
          <p:cNvSpPr/>
          <p:nvPr/>
        </p:nvSpPr>
        <p:spPr>
          <a:xfrm>
            <a:off x="7909560" y="31272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活かす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864608" y="3072384"/>
            <a:ext cx="402336" cy="402336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075" y="3152851"/>
            <a:ext cx="241402" cy="24140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13248" y="3108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業務活用を正しく推進する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4828032" y="3493008"/>
            <a:ext cx="3639312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36"/>
          <p:cNvSpPr/>
          <p:nvPr/>
        </p:nvSpPr>
        <p:spPr>
          <a:xfrm>
            <a:off x="4828032" y="356616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AIを使うべき場面・使うべきでない場面の判断軸を持つ。具体的なユースケースを学び、効果的・安全な形で業務に取り入れる。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 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7315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「知る」— 生成AIの基礎知識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生成AIリテラシー教育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786384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04672"/>
            <a:ext cx="39776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804672"/>
            <a:ext cx="39776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8961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生成AIとは何か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1298448"/>
            <a:ext cx="3657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31673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LLMの仕組み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57276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大量テキストから「次の単語を予測」する確率モデル。正確性は保証されない。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103120"/>
            <a:ext cx="3657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12140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できること・できないこと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37744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文章生成・要約・翻訳・コード補助◎ / 最新情報・計算・事実確認△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2907792"/>
            <a:ext cx="3657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292608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18211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もっともらしい嘘をつく特性。出典のない情報・数値は必ず検証が必要。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712464"/>
            <a:ext cx="3657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7307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主要ツール比較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98678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 / Claude — 用途・強み・社内利用可否を整理。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804672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804672"/>
            <a:ext cx="4069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8961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講習フォーマット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298448"/>
            <a:ext cx="37033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1298448"/>
            <a:ext cx="64008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298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12984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講義（スライド解説）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645920"/>
            <a:ext cx="37033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1645920"/>
            <a:ext cx="64008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16459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1993392"/>
            <a:ext cx="37033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1993392"/>
            <a:ext cx="64008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1993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1993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全社員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2340864"/>
            <a:ext cx="37033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2340864"/>
            <a:ext cx="64008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23408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AIの限界と特性を正しく言語化できる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2816352"/>
            <a:ext cx="40690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2816352"/>
            <a:ext cx="40690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2907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ミニワーク — 「この出力、信頼できる？」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46320" y="3246120"/>
            <a:ext cx="370332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337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AIが生成した架空のニュース記事を班で判定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84962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ハルシネーションの見抜き方を体験学習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46320" y="43616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グループ発表（10分）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 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7315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「守る」— セキュリティ・倫理・社内ルール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生成AIリテラシー教育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786384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0467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804672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1453896" y="1060704"/>
            <a:ext cx="658368" cy="65836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70" y="1192378"/>
            <a:ext cx="395021" cy="39502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" y="1828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情報セキュリティ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80160" y="2212848"/>
            <a:ext cx="10058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35915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社外秘・個人情報・顧客データは絶対に入力しない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30906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シャドーAI（無許可ツール）利用禁止と報告フロー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382219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承認済みツール一覧と利用申請プロセス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55848" y="80467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55848" y="804672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4398264" y="1060704"/>
            <a:ext cx="658368" cy="65836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938" y="1192378"/>
            <a:ext cx="395021" cy="39502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20440" y="1828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著作権・倫理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224528" y="2212848"/>
            <a:ext cx="10058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0"/>
          <p:cNvSpPr/>
          <p:nvPr/>
        </p:nvSpPr>
        <p:spPr>
          <a:xfrm>
            <a:off x="3538728" y="235915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AI生成コンテンツの著作権は誰のもの？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538728" y="30906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他者著作物の無断学習・出力リスク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538728" y="382219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差別・偏見・フェイク生成の禁止事項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300216" y="80467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00216" y="804672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5"/>
          <p:cNvSpPr/>
          <p:nvPr/>
        </p:nvSpPr>
        <p:spPr>
          <a:xfrm>
            <a:off x="7342632" y="1060704"/>
            <a:ext cx="658368" cy="65836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306" y="1192378"/>
            <a:ext cx="395021" cy="395021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64808" y="1828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社内ルール確認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7168896" y="2212848"/>
            <a:ext cx="100584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8"/>
          <p:cNvSpPr/>
          <p:nvPr/>
        </p:nvSpPr>
        <p:spPr>
          <a:xfrm>
            <a:off x="6483096" y="235915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利用ガイドライン（どのツールが何に使えるか）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483096" y="30906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AI出力物の社外公開前レビュー義務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483096" y="382219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インシデント発生時の報告・対応フロー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2"/>
          <p:cNvSpPr/>
          <p:nvPr/>
        </p:nvSpPr>
        <p:spPr>
          <a:xfrm>
            <a:off x="594360" y="47731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形式：ケーススタディ演習（30分）＋ 社内ルール確認テスト（10分）　対象：全社員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 ③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7315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「判断する」— AIを使うべき場面・使うべきでない場面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生成AIリテラシー教育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786384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04672"/>
            <a:ext cx="39776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804672"/>
            <a:ext cx="39776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8961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AIアンチパターン 4選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1298448"/>
            <a:ext cx="3639312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298448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135331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丸投げ依存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6093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プロンプトを投げて出力をそのまま提出。事実確認・品質チェックなし。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3639312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103120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1579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機密情報の入力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41401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「便利だから」と顧客情報や社外秘データをAIに入力してしまう。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2907792"/>
            <a:ext cx="3639312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907792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29626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精度過信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2186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AIが自信満々に答えるほど正確だと思い込み、ハルシネーションを見逃す。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3712464"/>
            <a:ext cx="3639312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712464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7673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責任の外部化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40233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「AIが言ったから」を言い訳に。AI出力の最終責任は必ず人間にある。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804672"/>
            <a:ext cx="40690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804672"/>
            <a:ext cx="40690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8961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人間レビューの判断フレーム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1298448"/>
            <a:ext cx="3703320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1298448"/>
            <a:ext cx="9601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2984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事実確認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97880" y="13533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固有名詞・数値・日付は必ず一次ソースで検証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103120"/>
            <a:ext cx="3703320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2103120"/>
            <a:ext cx="9601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103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文脈確認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97880" y="21579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自社のトーン・方針・文化に合っているか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2907792"/>
            <a:ext cx="3703320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2907792"/>
            <a:ext cx="9601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9077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リスク確認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97880" y="296265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差別・誤解・情報漏洩につながる表現がないか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712464"/>
            <a:ext cx="3703320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712464"/>
            <a:ext cx="9601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7124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責任確認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37673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公開・提出前に必ず人間が最終承認する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7731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形式：グループ演習（シナリオ判定ワーク）40分　対象：全社員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315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別枠企画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7315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「活かす」— ライトニングトークイベント（講習会とは別枠）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生成AIリテラシー教育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786384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04672"/>
            <a:ext cx="8321040" cy="71323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89611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社員が「自分のAI活用事例」を発表し合う、社内ナレッジ共有イベント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1664208"/>
            <a:ext cx="397764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1664208"/>
            <a:ext cx="39776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773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イベント概要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2066544"/>
            <a:ext cx="3611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1396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各発表5〜10分のショートプレゼン形式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" y="2468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月1回 or 四半期ごとの定期開催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" y="27980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オンライン配信でアーカイブ化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1664208"/>
            <a:ext cx="397764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664208"/>
            <a:ext cx="39776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1773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発表テーマ例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2066544"/>
            <a:ext cx="3611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0"/>
          <p:cNvSpPr/>
          <p:nvPr/>
        </p:nvSpPr>
        <p:spPr>
          <a:xfrm>
            <a:off x="4846320" y="21396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「このプロンプトで業務が◯◯分短縮」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46320" y="2468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「AIを使ってみて失敗した話」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46320" y="27980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「部署で使えるプロンプト集を作った」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11480" y="3355848"/>
            <a:ext cx="397764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11480" y="3355848"/>
            <a:ext cx="3977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期待する効果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94360" y="3758184"/>
            <a:ext cx="3611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3831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成功・失敗事例の組織的な蓄積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94360" y="4160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AI活用文化の自発的な醸成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94360" y="44897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部署間ナレッジの横断的な共有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63440" y="3355848"/>
            <a:ext cx="397764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63440" y="3355848"/>
            <a:ext cx="39776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2"/>
          <p:cNvSpPr/>
          <p:nvPr/>
        </p:nvSpPr>
        <p:spPr>
          <a:xfrm>
            <a:off x="484632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講習会との関係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846320" y="3758184"/>
            <a:ext cx="3611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4"/>
          <p:cNvSpPr/>
          <p:nvPr/>
        </p:nvSpPr>
        <p:spPr>
          <a:xfrm>
            <a:off x="4846320" y="3831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講習会で「知る・守る・判断する」を習得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846320" y="4160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LTイベントで実践事例を共有・発展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846320" y="44897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継続的な学習サイクルを形成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生成AIで実現できること — 業務活用ユースケース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57784" y="1024128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7" y="112654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6152" y="10424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文書作成・要約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" y="146304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" y="1554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レポート・メール・議事録の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ドラフト自動生成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804672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3502152" y="1024128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565" y="112654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60520" y="10424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業務プロセス自動化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520440" y="146304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5"/>
          <p:cNvSpPr/>
          <p:nvPr/>
        </p:nvSpPr>
        <p:spPr>
          <a:xfrm>
            <a:off x="3520440" y="1554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定型業務のフロー設計と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AIアシスト実装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300216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0216" y="804672"/>
            <a:ext cx="2743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Shape 18"/>
          <p:cNvSpPr/>
          <p:nvPr/>
        </p:nvSpPr>
        <p:spPr>
          <a:xfrm>
            <a:off x="6446520" y="1024128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933" y="112654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04888" y="10424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社内FAQ・サポート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64808" y="146304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1"/>
          <p:cNvSpPr/>
          <p:nvPr/>
        </p:nvSpPr>
        <p:spPr>
          <a:xfrm>
            <a:off x="6464808" y="1554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社内規程をベースにした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チャットボット構築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11480" y="281635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11480" y="2816352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4"/>
          <p:cNvSpPr/>
          <p:nvPr/>
        </p:nvSpPr>
        <p:spPr>
          <a:xfrm>
            <a:off x="557784" y="3035808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7" y="3138221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16152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データ分析・洞察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76072" y="347472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27"/>
          <p:cNvSpPr/>
          <p:nvPr/>
        </p:nvSpPr>
        <p:spPr>
          <a:xfrm>
            <a:off x="576072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自然言語で問い合わせる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BIレポート生成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355848" y="281635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355848" y="2816352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0"/>
          <p:cNvSpPr/>
          <p:nvPr/>
        </p:nvSpPr>
        <p:spPr>
          <a:xfrm>
            <a:off x="3502152" y="3035808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4565" y="3138221"/>
            <a:ext cx="307238" cy="30723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160520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マーケティング支援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3520440" y="347472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0" name="Text 33"/>
          <p:cNvSpPr/>
          <p:nvPr/>
        </p:nvSpPr>
        <p:spPr>
          <a:xfrm>
            <a:off x="352044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広告文・SNS投稿・SEO記事の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AI生成と品質管理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300216" y="281635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300216" y="2816352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36"/>
          <p:cNvSpPr/>
          <p:nvPr/>
        </p:nvSpPr>
        <p:spPr>
          <a:xfrm>
            <a:off x="6446520" y="3035808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933" y="3138221"/>
            <a:ext cx="307238" cy="30723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104888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コード・システム支援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6464808" y="347472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Text 39"/>
          <p:cNvSpPr/>
          <p:nvPr/>
        </p:nvSpPr>
        <p:spPr>
          <a:xfrm>
            <a:off x="6464808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コードレビュー・テスト自動化・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ドキュメント生成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　講習会プログラム概要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804672"/>
            <a:ext cx="39776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39776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96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261872"/>
            <a:ext cx="3639312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261872"/>
            <a:ext cx="64008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618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1261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管理職・DX推進担当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755648"/>
            <a:ext cx="3639312" cy="4023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755648"/>
            <a:ext cx="64008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75564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17556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一般社員（全社展開）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04672"/>
            <a:ext cx="40690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04672"/>
            <a:ext cx="40690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896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実施形式・時間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61872"/>
            <a:ext cx="370332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261872"/>
            <a:ext cx="59436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26187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32120" y="12618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半日ワークショップ（3時間）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645920"/>
            <a:ext cx="370332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645920"/>
            <a:ext cx="59436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6459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16459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 / 対面 ハイブリッド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029968"/>
            <a:ext cx="370332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2029968"/>
            <a:ext cx="59436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02996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32120" y="2029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フォローアップ動画あり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26060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プログラムタイムライン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3538728"/>
            <a:ext cx="832104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341985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118872" y="307238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" y="380390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イントロ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アイスブレイク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50008" y="341985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2148840" y="307238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00:20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21408" y="380390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生成AI基礎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79976" y="341985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178808" y="307238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51376" y="380390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リスク・倫理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9944" y="341985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208776" y="307238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01:40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81344" y="380390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ハンズオン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39912" y="341985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8238744" y="307238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11312" y="380390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＆まとめ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　期待される効果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804672"/>
            <a:ext cx="274320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515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業務効率化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2267712"/>
            <a:ext cx="10058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591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AI活用による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ルーティン業務の削減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804672"/>
            <a:ext cx="274320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804672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0515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355848" y="1901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リスク意識統一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24528" y="2267712"/>
            <a:ext cx="10058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23591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全社員が共通の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セキュリティ基準を理解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0216" y="804672"/>
            <a:ext cx="274320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0216" y="804672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216" y="10515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即日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300216" y="1901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実践スタート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68896" y="2267712"/>
            <a:ext cx="100584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23591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演習で習得した技術を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翌日から業務で活用可能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127248"/>
            <a:ext cx="832104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127248"/>
            <a:ext cx="4572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1868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60273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承認後、第1期（管理職対象）を来月より試験実施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39502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効果測定・フィードバックをもとに全社展開を計画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42976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LTイベントを並行して立ち上げ、活用文化の醸成を開始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　効果測定方法（予定）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49808"/>
            <a:ext cx="8321040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749808"/>
            <a:ext cx="45720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046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「受講して終わり」にしない。定量・定性の両面で継続的に効果を追う。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61872"/>
            <a:ext cx="39776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3533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定量指標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1755648"/>
            <a:ext cx="3639312" cy="8961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755648"/>
            <a:ext cx="36576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1810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知識テストスコア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1847088"/>
            <a:ext cx="128016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847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受講前後（即時）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" y="2121408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基礎知識・リスク理解度を10問テストで点数化。平均スコアの改善率を追跡。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2761488"/>
            <a:ext cx="3639312" cy="8961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761488"/>
            <a:ext cx="36576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2816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シャドーAI報告件数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852928"/>
            <a:ext cx="128016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8529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受講後3ヶ月以降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" y="3127248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無許可ツール利用の自主申告数をモニタリング。受講後の削減率を算出。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3767328"/>
            <a:ext cx="3639312" cy="8961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767328"/>
            <a:ext cx="36576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822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AI活用業務件数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3858768"/>
            <a:ext cx="128016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858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受講後1ヶ月・3ヶ月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" y="4133088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承認済みツールの利用ログから部署別・個人別の活用件数を集計。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261872"/>
            <a:ext cx="40690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261872"/>
            <a:ext cx="40690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3533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定性指標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755648"/>
            <a:ext cx="3703320" cy="8961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1755648"/>
            <a:ext cx="36576" cy="8961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18105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行動変容アンケート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32320" y="1847088"/>
            <a:ext cx="123444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18470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受講後1ヶ月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01768" y="212140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「業務でAIを使う際に確認するようになったか」等、5段階評価で変化を計測。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2761488"/>
            <a:ext cx="3703320" cy="8961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2761488"/>
            <a:ext cx="36576" cy="8961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5001768" y="28163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上長による観察評価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0" y="2852928"/>
            <a:ext cx="123444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0" y="28529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受講後3ヶ月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01768" y="312724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マネージャーが部下のAI利用姿勢を評価。レビュー習慣・情報管理意識の変化を確認。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3767328"/>
            <a:ext cx="3703320" cy="8961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4846320" y="3767328"/>
            <a:ext cx="36576" cy="8961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5001768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LTイベント登壇件数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32320" y="3858768"/>
            <a:ext cx="123444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38587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継続モニタリング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01768" y="413308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自発的に活用事例を共有する社員数を追跡。AI活用文化の醸成度合いの指標とする。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　フィードバック取得方法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"/>
            <a:ext cx="83210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749808"/>
            <a:ext cx="8321040" cy="42062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749808"/>
            <a:ext cx="45720" cy="4206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046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受講者の声を講習会改善に直結させる、3段階フィードバックループを構築する。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274320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61872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" y="1371600"/>
            <a:ext cx="676656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3716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44168" y="1371600"/>
            <a:ext cx="1627632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168" y="1371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受講直後（5分）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6916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即時フィードバック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" y="20299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Googleフォーム / QRコードアンケート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" y="228600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23408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満足度：5段階評価（内容・講師・時間配分）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" y="28529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理解度：「最も役に立った内容」の自由記述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" y="33649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疑問点：「まだ腑に落ちていないこと」の収集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3877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NPS：「この講習を同僚に勧めたいか」0〜10点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55848" y="1261872"/>
            <a:ext cx="274320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55848" y="1261872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Shape 22"/>
          <p:cNvSpPr/>
          <p:nvPr/>
        </p:nvSpPr>
        <p:spPr>
          <a:xfrm>
            <a:off x="3520440" y="1371600"/>
            <a:ext cx="676656" cy="21945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13716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88536" y="1371600"/>
            <a:ext cx="1627632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288536" y="1371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受講1ヶ月後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16916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行動変容フィードバック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20299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 による自動サーベイ送信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20440" y="228600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23408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「受講後、業務でAIを使う頻度は変わったか」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8529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「情報入力前に立ち止まって確認するようになったか」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33649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「困ったこと・迷ったことがあれば教えてください」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3877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自由回答をもとに次期カリキュラムへ反映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0216" y="1261872"/>
            <a:ext cx="274320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0216" y="1261872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64808" y="1371600"/>
            <a:ext cx="676656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13716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32904" y="1371600"/>
            <a:ext cx="1627632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7232904" y="1371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受講3ヶ月後（任意）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64808" y="16916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深掘りインタビュー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64808" y="20299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希望者対象・30分オンライン面談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64808" y="2286000"/>
            <a:ext cx="246888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6464808" y="23408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「講習が実務に役立った／役立たなかった場面」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64808" y="28529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「社内で共有したいプロンプト・活用事例」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64808" y="33649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「次の講習会で学びたいテーマのリクエスト」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64808" y="3877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ヒアリング内容はLTイベント登壇候補の発掘にも活用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486460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収集したフィードバックは四半期ごとに集計 → カリキュラム改善 → 次期講習会へ反映　という継続改善サイクルを確立する。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377440"/>
            <a:ext cx="3840480" cy="3840480"/>
          </a:xfrm>
          <a:prstGeom prst="ellipse">
            <a:avLst/>
          </a:prstGeom>
          <a:solidFill>
            <a:srgbClr val="24355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017520"/>
            <a:ext cx="2194560" cy="2194560"/>
          </a:xfrm>
          <a:prstGeom prst="ellipse">
            <a:avLst/>
          </a:prstGeom>
          <a:solidFill>
            <a:srgbClr val="1E34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0972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2801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11480" y="205740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22128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生成AIの力を、組織全体の力に。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294436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ご質問・ご意見がございましたらお気軽にお声がけください。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4498848"/>
            <a:ext cx="8321040" cy="16459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45902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人事・DX推進部　contact@company.co.jp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生成AIリテラシー・活用講習会</dc:title>
  <dc:subject>PptxGenJS Presentation</dc:subject>
  <dc:creator>PptxGenJS</dc:creator>
  <cp:lastModifiedBy>PptxGenJS</cp:lastModifiedBy>
  <cp:revision>1</cp:revision>
  <dcterms:created xsi:type="dcterms:W3CDTF">2026-04-05T16:43:38Z</dcterms:created>
  <dcterms:modified xsi:type="dcterms:W3CDTF">2026-04-05T16:43:38Z</dcterms:modified>
</cp:coreProperties>
</file>